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9753600" cy="7315200"/>
  <p:notesSz cx="6858000" cy="9144000"/>
  <p:embeddedFontLst>
    <p:embeddedFont>
      <p:font typeface="Times New Roman Bold" charset="1" panose="02020803070505020304"/>
      <p:regular r:id="rId12"/>
    </p:embeddedFont>
    <p:embeddedFont>
      <p:font typeface="JetBrains Mono Bold" charset="1" panose="02010809030102050004"/>
      <p:regular r:id="rId13"/>
    </p:embeddedFont>
    <p:embeddedFont>
      <p:font typeface="Times New Roman" charset="1" panose="02020603050405020304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font" Target="fonts/font12.fntdata"/><Relationship Id="rId13" Type="http://schemas.openxmlformats.org/officeDocument/2006/relationships/font" Target="fonts/font13.fntdata"/><Relationship Id="rId14" Type="http://schemas.openxmlformats.org/officeDocument/2006/relationships/font" Target="fonts/font14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6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6.png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37455" y="6834759"/>
            <a:ext cx="1370152" cy="3075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91"/>
              </a:lnSpc>
            </a:pPr>
            <a:r>
              <a:rPr lang="en-US" sz="1493" b="true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8/12/2026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8880986" y="6806384"/>
            <a:ext cx="458648" cy="3075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/>
            <a:r>
              <a:rPr sz="1000">
                <a:solidFill>
                  <a:srgbClr val="5E646E"/>
                </a:solidFill>
              </a:rPr>
              <a:t>1</a:t>
            </a:r>
          </a:p>
        </p:txBody>
      </p:sp>
      <p:sp>
        <p:nvSpPr>
          <p:cNvPr name="AutoShape 4" id="4"/>
          <p:cNvSpPr/>
          <p:nvPr/>
        </p:nvSpPr>
        <p:spPr>
          <a:xfrm rot="1843020">
            <a:off x="9142438" y="6890023"/>
            <a:ext cx="572300" cy="0"/>
          </a:xfrm>
          <a:prstGeom prst="line">
            <a:avLst/>
          </a:prstGeom>
          <a:ln cap="rnd" w="9525">
            <a:solidFill>
              <a:srgbClr val="ED7D31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grpSp>
        <p:nvGrpSpPr>
          <p:cNvPr name="Group 5" id="5"/>
          <p:cNvGrpSpPr/>
          <p:nvPr/>
        </p:nvGrpSpPr>
        <p:grpSpPr>
          <a:xfrm rot="0">
            <a:off x="486" y="144475"/>
            <a:ext cx="453571" cy="6507690"/>
            <a:chOff x="0" y="0"/>
            <a:chExt cx="604761" cy="867691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04774" cy="8676894"/>
            </a:xfrm>
            <a:custGeom>
              <a:avLst/>
              <a:gdLst/>
              <a:ahLst/>
              <a:cxnLst/>
              <a:rect r="r" b="b" t="t" l="l"/>
              <a:pathLst>
                <a:path h="8676894" w="604774">
                  <a:moveTo>
                    <a:pt x="0" y="0"/>
                  </a:moveTo>
                  <a:lnTo>
                    <a:pt x="604774" y="0"/>
                  </a:lnTo>
                  <a:lnTo>
                    <a:pt x="604774" y="8676894"/>
                  </a:lnTo>
                  <a:lnTo>
                    <a:pt x="0" y="86768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84508" t="0" r="-84504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458229" y="144475"/>
            <a:ext cx="163563" cy="5658917"/>
            <a:chOff x="0" y="0"/>
            <a:chExt cx="218084" cy="754522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8059" cy="7545197"/>
            </a:xfrm>
            <a:custGeom>
              <a:avLst/>
              <a:gdLst/>
              <a:ahLst/>
              <a:cxnLst/>
              <a:rect r="r" b="b" t="t" l="l"/>
              <a:pathLst>
                <a:path h="7545197" w="218059">
                  <a:moveTo>
                    <a:pt x="0" y="0"/>
                  </a:moveTo>
                  <a:lnTo>
                    <a:pt x="218059" y="0"/>
                  </a:lnTo>
                  <a:lnTo>
                    <a:pt x="218059" y="7545197"/>
                  </a:lnTo>
                  <a:lnTo>
                    <a:pt x="0" y="75451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93937" t="0" r="-93942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8876424" y="6446749"/>
            <a:ext cx="694944" cy="690648"/>
            <a:chOff x="0" y="0"/>
            <a:chExt cx="926592" cy="920864"/>
          </a:xfrm>
        </p:grpSpPr>
        <p:sp>
          <p:nvSpPr>
            <p:cNvPr name="Freeform 10" id="10" descr="A close up of a sign  Description automatically generated"/>
            <p:cNvSpPr/>
            <p:nvPr/>
          </p:nvSpPr>
          <p:spPr>
            <a:xfrm flipH="false" flipV="false" rot="0">
              <a:off x="0" y="0"/>
              <a:ext cx="926592" cy="920877"/>
            </a:xfrm>
            <a:custGeom>
              <a:avLst/>
              <a:gdLst/>
              <a:ahLst/>
              <a:cxnLst/>
              <a:rect r="r" b="b" t="t" l="l"/>
              <a:pathLst>
                <a:path h="920877" w="926592">
                  <a:moveTo>
                    <a:pt x="0" y="0"/>
                  </a:moveTo>
                  <a:lnTo>
                    <a:pt x="926592" y="0"/>
                  </a:lnTo>
                  <a:lnTo>
                    <a:pt x="926592" y="920877"/>
                  </a:lnTo>
                  <a:lnTo>
                    <a:pt x="0" y="9208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9" t="0" r="-9" b="1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5400000">
            <a:off x="5320132" y="3786969"/>
            <a:ext cx="411718" cy="6700866"/>
            <a:chOff x="0" y="0"/>
            <a:chExt cx="548958" cy="893448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48894" cy="8934450"/>
            </a:xfrm>
            <a:custGeom>
              <a:avLst/>
              <a:gdLst/>
              <a:ahLst/>
              <a:cxnLst/>
              <a:rect r="r" b="b" t="t" l="l"/>
              <a:pathLst>
                <a:path h="8934450" w="548894">
                  <a:moveTo>
                    <a:pt x="0" y="0"/>
                  </a:moveTo>
                  <a:lnTo>
                    <a:pt x="548894" y="0"/>
                  </a:lnTo>
                  <a:lnTo>
                    <a:pt x="548894" y="8934450"/>
                  </a:lnTo>
                  <a:lnTo>
                    <a:pt x="0" y="89344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02593" t="0" r="-102605" b="0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5400000">
            <a:off x="5433241" y="3502876"/>
            <a:ext cx="185499" cy="6700866"/>
            <a:chOff x="0" y="0"/>
            <a:chExt cx="247333" cy="893448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47269" cy="8934450"/>
            </a:xfrm>
            <a:custGeom>
              <a:avLst/>
              <a:gdLst/>
              <a:ahLst/>
              <a:cxnLst/>
              <a:rect r="r" b="b" t="t" l="l"/>
              <a:pathLst>
                <a:path h="8934450" w="247269">
                  <a:moveTo>
                    <a:pt x="0" y="0"/>
                  </a:moveTo>
                  <a:lnTo>
                    <a:pt x="247269" y="0"/>
                  </a:lnTo>
                  <a:lnTo>
                    <a:pt x="247269" y="8934450"/>
                  </a:lnTo>
                  <a:lnTo>
                    <a:pt x="0" y="89344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00297" t="0" r="-100323" b="0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14671" y="6729946"/>
            <a:ext cx="1948291" cy="542058"/>
            <a:chOff x="0" y="0"/>
            <a:chExt cx="2597722" cy="722744"/>
          </a:xfrm>
        </p:grpSpPr>
        <p:sp>
          <p:nvSpPr>
            <p:cNvPr name="Freeform 16" id="16" descr="C:\Users\admin\Downloads\university-png\Group 5@3x.png"/>
            <p:cNvSpPr/>
            <p:nvPr/>
          </p:nvSpPr>
          <p:spPr>
            <a:xfrm flipH="false" flipV="false" rot="0">
              <a:off x="0" y="0"/>
              <a:ext cx="2597658" cy="722757"/>
            </a:xfrm>
            <a:custGeom>
              <a:avLst/>
              <a:gdLst/>
              <a:ahLst/>
              <a:cxnLst/>
              <a:rect r="r" b="b" t="t" l="l"/>
              <a:pathLst>
                <a:path h="722757" w="2597658">
                  <a:moveTo>
                    <a:pt x="0" y="0"/>
                  </a:moveTo>
                  <a:lnTo>
                    <a:pt x="2597658" y="0"/>
                  </a:lnTo>
                  <a:lnTo>
                    <a:pt x="2597658" y="722757"/>
                  </a:lnTo>
                  <a:lnTo>
                    <a:pt x="0" y="72275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-2" b="-6327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486" y="2372"/>
            <a:ext cx="453571" cy="6573955"/>
            <a:chOff x="0" y="0"/>
            <a:chExt cx="604761" cy="8765273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04774" cy="8765286"/>
            </a:xfrm>
            <a:custGeom>
              <a:avLst/>
              <a:gdLst/>
              <a:ahLst/>
              <a:cxnLst/>
              <a:rect r="r" b="b" t="t" l="l"/>
              <a:pathLst>
                <a:path h="8765286" w="604774">
                  <a:moveTo>
                    <a:pt x="0" y="0"/>
                  </a:moveTo>
                  <a:lnTo>
                    <a:pt x="604774" y="0"/>
                  </a:lnTo>
                  <a:lnTo>
                    <a:pt x="604774" y="8765286"/>
                  </a:lnTo>
                  <a:lnTo>
                    <a:pt x="0" y="87652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85877" t="0" r="-85875" b="0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454047" y="0"/>
            <a:ext cx="167745" cy="5803392"/>
            <a:chOff x="0" y="0"/>
            <a:chExt cx="223660" cy="7737856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23647" cy="7737856"/>
            </a:xfrm>
            <a:custGeom>
              <a:avLst/>
              <a:gdLst/>
              <a:ahLst/>
              <a:cxnLst/>
              <a:rect r="r" b="b" t="t" l="l"/>
              <a:pathLst>
                <a:path h="7737856" w="223647">
                  <a:moveTo>
                    <a:pt x="0" y="0"/>
                  </a:moveTo>
                  <a:lnTo>
                    <a:pt x="223647" y="0"/>
                  </a:lnTo>
                  <a:lnTo>
                    <a:pt x="223647" y="7737856"/>
                  </a:lnTo>
                  <a:lnTo>
                    <a:pt x="0" y="77378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93923" t="0" r="-93929" b="0"/>
              </a:stretch>
            </a:blip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621792" y="-450"/>
            <a:ext cx="1281868" cy="1281868"/>
            <a:chOff x="0" y="0"/>
            <a:chExt cx="1709158" cy="1709158"/>
          </a:xfrm>
        </p:grpSpPr>
        <p:grpSp>
          <p:nvGrpSpPr>
            <p:cNvPr name="Group 22" id="22"/>
            <p:cNvGrpSpPr/>
            <p:nvPr/>
          </p:nvGrpSpPr>
          <p:grpSpPr>
            <a:xfrm rot="0">
              <a:off x="107226" y="107226"/>
              <a:ext cx="1494706" cy="1494706"/>
              <a:chOff x="0" y="0"/>
              <a:chExt cx="812800" cy="812800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76200" y="85725"/>
                <a:ext cx="660400" cy="6508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811"/>
                  </a:lnSpc>
                </a:pPr>
              </a:p>
            </p:txBody>
          </p:sp>
        </p:grpSp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709158" cy="1709158"/>
            </a:xfrm>
            <a:custGeom>
              <a:avLst/>
              <a:gdLst/>
              <a:ahLst/>
              <a:cxnLst/>
              <a:rect r="r" b="b" t="t" l="l"/>
              <a:pathLst>
                <a:path h="1709158" w="1709158">
                  <a:moveTo>
                    <a:pt x="0" y="0"/>
                  </a:moveTo>
                  <a:lnTo>
                    <a:pt x="1709158" y="0"/>
                  </a:lnTo>
                  <a:lnTo>
                    <a:pt x="1709158" y="1709158"/>
                  </a:lnTo>
                  <a:lnTo>
                    <a:pt x="0" y="17091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sp>
        <p:nvSpPr>
          <p:cNvPr name="Freeform 26" id="26"/>
          <p:cNvSpPr/>
          <p:nvPr/>
        </p:nvSpPr>
        <p:spPr>
          <a:xfrm flipH="false" flipV="false" rot="0">
            <a:off x="7983309" y="23147"/>
            <a:ext cx="1770291" cy="965613"/>
          </a:xfrm>
          <a:custGeom>
            <a:avLst/>
            <a:gdLst/>
            <a:ahLst/>
            <a:cxnLst/>
            <a:rect r="r" b="b" t="t" l="l"/>
            <a:pathLst>
              <a:path h="965613" w="1770291">
                <a:moveTo>
                  <a:pt x="0" y="0"/>
                </a:moveTo>
                <a:lnTo>
                  <a:pt x="1770291" y="0"/>
                </a:lnTo>
                <a:lnTo>
                  <a:pt x="1770291" y="965614"/>
                </a:lnTo>
                <a:lnTo>
                  <a:pt x="0" y="96561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27" id="27"/>
          <p:cNvSpPr/>
          <p:nvPr/>
        </p:nvSpPr>
        <p:spPr>
          <a:xfrm flipH="false" flipV="false" rot="0">
            <a:off x="3850606" y="0"/>
            <a:ext cx="2556277" cy="731520"/>
          </a:xfrm>
          <a:custGeom>
            <a:avLst/>
            <a:gdLst/>
            <a:ahLst/>
            <a:cxnLst/>
            <a:rect r="r" b="b" t="t" l="l"/>
            <a:pathLst>
              <a:path h="731520" w="2556277">
                <a:moveTo>
                  <a:pt x="0" y="0"/>
                </a:moveTo>
                <a:lnTo>
                  <a:pt x="2556277" y="0"/>
                </a:lnTo>
                <a:lnTo>
                  <a:pt x="2556277" y="731520"/>
                </a:lnTo>
                <a:lnTo>
                  <a:pt x="0" y="73152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-17117"/>
            </a:stretch>
          </a:blipFill>
        </p:spPr>
        <p:txBody>
          <a:bodyPr/>
          <a:p/>
        </p:txBody>
      </p:sp>
      <p:sp>
        <p:nvSpPr>
          <p:cNvPr name="Freeform 28" id="28"/>
          <p:cNvSpPr/>
          <p:nvPr/>
        </p:nvSpPr>
        <p:spPr>
          <a:xfrm flipH="false" flipV="false" rot="0">
            <a:off x="2712160" y="255664"/>
            <a:ext cx="4833168" cy="1614203"/>
          </a:xfrm>
          <a:custGeom>
            <a:avLst/>
            <a:gdLst/>
            <a:ahLst/>
            <a:cxnLst/>
            <a:rect r="r" b="b" t="t" l="l"/>
            <a:pathLst>
              <a:path h="1614203" w="4833168">
                <a:moveTo>
                  <a:pt x="0" y="0"/>
                </a:moveTo>
                <a:lnTo>
                  <a:pt x="4833169" y="0"/>
                </a:lnTo>
                <a:lnTo>
                  <a:pt x="4833169" y="1614203"/>
                </a:lnTo>
                <a:lnTo>
                  <a:pt x="0" y="161420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29" id="29"/>
          <p:cNvSpPr txBox="true"/>
          <p:nvPr/>
        </p:nvSpPr>
        <p:spPr>
          <a:xfrm rot="0">
            <a:off x="1002630" y="1391412"/>
            <a:ext cx="8107680" cy="15825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47"/>
              </a:lnSpc>
            </a:pPr>
            <a:r>
              <a:rPr lang="en-US" sz="3840" b="true">
                <a:solidFill>
                  <a:srgbClr val="C00000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HACKDAY MUMBAI</a:t>
            </a:r>
          </a:p>
          <a:p>
            <a:pPr algn="ctr">
              <a:lnSpc>
                <a:spcPts val="4147"/>
              </a:lnSpc>
            </a:pPr>
            <a:r>
              <a:rPr lang="en-US" sz="3840" b="true">
                <a:solidFill>
                  <a:srgbClr val="C00000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x</a:t>
            </a:r>
          </a:p>
          <a:p>
            <a:pPr algn="ctr">
              <a:lnSpc>
                <a:spcPts val="4147"/>
              </a:lnSpc>
            </a:pPr>
            <a:r>
              <a:rPr lang="en-US" sz="3840" b="true">
                <a:solidFill>
                  <a:srgbClr val="C00000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ISTE KJSSE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731520" y="2980039"/>
            <a:ext cx="8608114" cy="4600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sz="3000">
                <a:latin typeface="Times New Roman"/>
              </a:rPr>
              <a:t>Project: RepoMedic AI</a:t>
            </a:r>
          </a:p>
          <a:p>
            <a:pPr algn="l">
              <a:lnSpc>
                <a:spcPts val="3600"/>
              </a:lnSpc>
            </a:pPr>
          </a:p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College Name: KJ Somaiya Institute Of Technology</a:t>
            </a:r>
          </a:p>
          <a:p>
            <a:pPr algn="l">
              <a:lnSpc>
                <a:spcPts val="3600"/>
              </a:lnSpc>
            </a:pPr>
          </a:p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Track: 2-Maintenance Agent Skill (Build an original, reusable AI-powered maintenance capability that performs a specific software-maintenance task on the organizer-provided target repository.)</a:t>
            </a:r>
          </a:p>
          <a:p>
            <a:pPr algn="l">
              <a:lnSpc>
                <a:spcPts val="3600"/>
              </a:lnSpc>
            </a:pPr>
          </a:p>
          <a:p>
            <a:pPr algn="l">
              <a:lnSpc>
                <a:spcPts val="3600"/>
              </a:lnSpc>
              <a:spcBef>
                <a:spcPct val="0"/>
              </a:spcBef>
            </a:pPr>
          </a:p>
          <a:p>
            <a:r>
              <a:rPr sz="3000">
                <a:latin typeface="Times New Roman"/>
              </a:rPr>
              <a:t>Team Name: CTRL SHIFT ELITE</a:t>
            </a:r>
          </a:p>
          <a:p>
            <a:r>
              <a:rPr sz="3000">
                <a:latin typeface="Times New Roman"/>
              </a:rPr>
              <a:t>College Name: KJ Somaiya Institute Of Technology</a:t>
            </a:r>
          </a:p>
          <a:p>
            <a:r>
              <a:rPr sz="3000">
                <a:latin typeface="Times New Roman"/>
              </a:rPr>
              <a:t>Track: 2-Maintenance Agent Skill</a:t>
            </a:r>
          </a:p>
          <a:p>
            <a:r>
              <a:rPr sz="3000">
                <a:latin typeface="Times New Roman"/>
              </a:rPr>
              <a:t>GitHub Repository: https://github.com/Gatik902/H26_Ctrl-Shift-Elite_RepoMedic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37455" y="6834759"/>
            <a:ext cx="1370152" cy="3075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91"/>
              </a:lnSpc>
            </a:pPr>
            <a:r>
              <a:rPr lang="en-US" sz="1493" b="true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8/12/2026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8880986" y="6806384"/>
            <a:ext cx="458648" cy="3075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/>
            <a:r>
              <a:rPr sz="1000">
                <a:solidFill>
                  <a:srgbClr val="5E646E"/>
                </a:solidFill>
              </a:rPr>
              <a:t>2</a:t>
            </a:r>
          </a:p>
        </p:txBody>
      </p:sp>
      <p:sp>
        <p:nvSpPr>
          <p:cNvPr name="AutoShape 4" id="4"/>
          <p:cNvSpPr/>
          <p:nvPr/>
        </p:nvSpPr>
        <p:spPr>
          <a:xfrm rot="1843020">
            <a:off x="9142438" y="6890023"/>
            <a:ext cx="572300" cy="0"/>
          </a:xfrm>
          <a:prstGeom prst="line">
            <a:avLst/>
          </a:prstGeom>
          <a:ln cap="rnd" w="9525">
            <a:solidFill>
              <a:srgbClr val="ED7D31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grpSp>
        <p:nvGrpSpPr>
          <p:cNvPr name="Group 5" id="5"/>
          <p:cNvGrpSpPr/>
          <p:nvPr/>
        </p:nvGrpSpPr>
        <p:grpSpPr>
          <a:xfrm rot="0">
            <a:off x="486" y="144475"/>
            <a:ext cx="453571" cy="6507690"/>
            <a:chOff x="0" y="0"/>
            <a:chExt cx="604761" cy="867691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04774" cy="8676894"/>
            </a:xfrm>
            <a:custGeom>
              <a:avLst/>
              <a:gdLst/>
              <a:ahLst/>
              <a:cxnLst/>
              <a:rect r="r" b="b" t="t" l="l"/>
              <a:pathLst>
                <a:path h="8676894" w="604774">
                  <a:moveTo>
                    <a:pt x="0" y="0"/>
                  </a:moveTo>
                  <a:lnTo>
                    <a:pt x="604774" y="0"/>
                  </a:lnTo>
                  <a:lnTo>
                    <a:pt x="604774" y="8676894"/>
                  </a:lnTo>
                  <a:lnTo>
                    <a:pt x="0" y="86768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84508" t="0" r="-84504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458229" y="144475"/>
            <a:ext cx="163563" cy="5658917"/>
            <a:chOff x="0" y="0"/>
            <a:chExt cx="218084" cy="754522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8059" cy="7545197"/>
            </a:xfrm>
            <a:custGeom>
              <a:avLst/>
              <a:gdLst/>
              <a:ahLst/>
              <a:cxnLst/>
              <a:rect r="r" b="b" t="t" l="l"/>
              <a:pathLst>
                <a:path h="7545197" w="218059">
                  <a:moveTo>
                    <a:pt x="0" y="0"/>
                  </a:moveTo>
                  <a:lnTo>
                    <a:pt x="218059" y="0"/>
                  </a:lnTo>
                  <a:lnTo>
                    <a:pt x="218059" y="7545197"/>
                  </a:lnTo>
                  <a:lnTo>
                    <a:pt x="0" y="75451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93937" t="0" r="-93942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8876424" y="6446749"/>
            <a:ext cx="694944" cy="690648"/>
            <a:chOff x="0" y="0"/>
            <a:chExt cx="926592" cy="920864"/>
          </a:xfrm>
        </p:grpSpPr>
        <p:sp>
          <p:nvSpPr>
            <p:cNvPr name="Freeform 10" id="10" descr="A close up of a sign  Description automatically generated"/>
            <p:cNvSpPr/>
            <p:nvPr/>
          </p:nvSpPr>
          <p:spPr>
            <a:xfrm flipH="false" flipV="false" rot="0">
              <a:off x="0" y="0"/>
              <a:ext cx="926592" cy="920877"/>
            </a:xfrm>
            <a:custGeom>
              <a:avLst/>
              <a:gdLst/>
              <a:ahLst/>
              <a:cxnLst/>
              <a:rect r="r" b="b" t="t" l="l"/>
              <a:pathLst>
                <a:path h="920877" w="926592">
                  <a:moveTo>
                    <a:pt x="0" y="0"/>
                  </a:moveTo>
                  <a:lnTo>
                    <a:pt x="926592" y="0"/>
                  </a:lnTo>
                  <a:lnTo>
                    <a:pt x="926592" y="920877"/>
                  </a:lnTo>
                  <a:lnTo>
                    <a:pt x="0" y="9208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9" t="0" r="-9" b="1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5400000">
            <a:off x="5320132" y="3786969"/>
            <a:ext cx="411718" cy="6700866"/>
            <a:chOff x="0" y="0"/>
            <a:chExt cx="548958" cy="893448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48894" cy="8934450"/>
            </a:xfrm>
            <a:custGeom>
              <a:avLst/>
              <a:gdLst/>
              <a:ahLst/>
              <a:cxnLst/>
              <a:rect r="r" b="b" t="t" l="l"/>
              <a:pathLst>
                <a:path h="8934450" w="548894">
                  <a:moveTo>
                    <a:pt x="0" y="0"/>
                  </a:moveTo>
                  <a:lnTo>
                    <a:pt x="548894" y="0"/>
                  </a:lnTo>
                  <a:lnTo>
                    <a:pt x="548894" y="8934450"/>
                  </a:lnTo>
                  <a:lnTo>
                    <a:pt x="0" y="89344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02593" t="0" r="-102605" b="0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5400000">
            <a:off x="5433241" y="3502876"/>
            <a:ext cx="185499" cy="6700866"/>
            <a:chOff x="0" y="0"/>
            <a:chExt cx="247333" cy="893448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47269" cy="8934450"/>
            </a:xfrm>
            <a:custGeom>
              <a:avLst/>
              <a:gdLst/>
              <a:ahLst/>
              <a:cxnLst/>
              <a:rect r="r" b="b" t="t" l="l"/>
              <a:pathLst>
                <a:path h="8934450" w="247269">
                  <a:moveTo>
                    <a:pt x="0" y="0"/>
                  </a:moveTo>
                  <a:lnTo>
                    <a:pt x="247269" y="0"/>
                  </a:lnTo>
                  <a:lnTo>
                    <a:pt x="247269" y="8934450"/>
                  </a:lnTo>
                  <a:lnTo>
                    <a:pt x="0" y="89344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00297" t="0" r="-100323" b="0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14671" y="6729946"/>
            <a:ext cx="1948291" cy="542058"/>
            <a:chOff x="0" y="0"/>
            <a:chExt cx="2597722" cy="722744"/>
          </a:xfrm>
        </p:grpSpPr>
        <p:sp>
          <p:nvSpPr>
            <p:cNvPr name="Freeform 16" id="16" descr="C:\Users\admin\Downloads\university-png\Group 5@3x.png"/>
            <p:cNvSpPr/>
            <p:nvPr/>
          </p:nvSpPr>
          <p:spPr>
            <a:xfrm flipH="false" flipV="false" rot="0">
              <a:off x="0" y="0"/>
              <a:ext cx="2597658" cy="722757"/>
            </a:xfrm>
            <a:custGeom>
              <a:avLst/>
              <a:gdLst/>
              <a:ahLst/>
              <a:cxnLst/>
              <a:rect r="r" b="b" t="t" l="l"/>
              <a:pathLst>
                <a:path h="722757" w="2597658">
                  <a:moveTo>
                    <a:pt x="0" y="0"/>
                  </a:moveTo>
                  <a:lnTo>
                    <a:pt x="2597658" y="0"/>
                  </a:lnTo>
                  <a:lnTo>
                    <a:pt x="2597658" y="722757"/>
                  </a:lnTo>
                  <a:lnTo>
                    <a:pt x="0" y="72275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-2" b="-6327"/>
              </a:stretch>
            </a:blip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967580" y="293903"/>
            <a:ext cx="8054500" cy="4965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r>
              <a:t>Solution &amp; Workflow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7983309" y="23147"/>
            <a:ext cx="1770291" cy="965613"/>
          </a:xfrm>
          <a:custGeom>
            <a:avLst/>
            <a:gdLst/>
            <a:ahLst/>
            <a:cxnLst/>
            <a:rect r="r" b="b" t="t" l="l"/>
            <a:pathLst>
              <a:path h="965613" w="1770291">
                <a:moveTo>
                  <a:pt x="0" y="0"/>
                </a:moveTo>
                <a:lnTo>
                  <a:pt x="1770291" y="0"/>
                </a:lnTo>
                <a:lnTo>
                  <a:pt x="1770291" y="965614"/>
                </a:lnTo>
                <a:lnTo>
                  <a:pt x="0" y="96561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id="19" name="Rounded Rectangle 18"/>
          <p:cNvSpPr/>
          <p:nvPr/>
        </p:nvSpPr>
        <p:spPr>
          <a:xfrm>
            <a:off x="1005840" y="1234440"/>
            <a:ext cx="2331720" cy="1600200"/>
          </a:xfrm>
          <a:prstGeom prst="roundRect">
            <a:avLst/>
          </a:prstGeom>
          <a:solidFill>
            <a:srgbClr val="FAF6F6"/>
          </a:solidFill>
          <a:ln w="12700">
            <a:solidFill>
              <a:srgbClr val="EBD2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28016" tIns="484632" bIns="91440"/>
          <a:lstStyle/>
          <a:p>
            <a:pPr algn="ctr">
              <a:spcAft>
                <a:spcPts val="500"/>
              </a:spcAft>
              <a:defRPr sz="1200">
                <a:solidFill>
                  <a:srgbClr val="2C3038"/>
                </a:solidFill>
                <a:latin typeface="Aptos"/>
              </a:defRPr>
            </a:pPr>
            <a:r>
              <a:t>Connect public Git repository via SSRF-safe manager; auto-detect project ecosystem (Python, JS/TS, Monorepos), manifests, and tests.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05840" y="1234440"/>
            <a:ext cx="2331720" cy="393192"/>
          </a:xfrm>
          <a:prstGeom prst="roundRect">
            <a:avLst/>
          </a:prstGeom>
          <a:solidFill>
            <a:srgbClr val="B112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tIns="32004" bIns="0"/>
          <a:lstStyle/>
          <a:p>
            <a:pPr algn="ctr">
              <a:defRPr sz="1500" b="1">
                <a:solidFill>
                  <a:srgbClr val="FFFFFF"/>
                </a:solidFill>
                <a:latin typeface="Aptos Display"/>
              </a:defRPr>
            </a:pPr>
            <a:r>
              <a:t>1  INGEST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703320" y="1234440"/>
            <a:ext cx="2331720" cy="1600200"/>
          </a:xfrm>
          <a:prstGeom prst="roundRect">
            <a:avLst/>
          </a:prstGeom>
          <a:solidFill>
            <a:srgbClr val="FAF6F6"/>
          </a:solidFill>
          <a:ln w="12700">
            <a:solidFill>
              <a:srgbClr val="EBD2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28016" tIns="484632" bIns="91440"/>
          <a:lstStyle/>
          <a:p>
            <a:pPr algn="ctr">
              <a:spcAft>
                <a:spcPts val="500"/>
              </a:spcAft>
              <a:defRPr sz="1200">
                <a:solidFill>
                  <a:srgbClr val="2C3038"/>
                </a:solidFill>
                <a:latin typeface="Aptos"/>
              </a:defRPr>
            </a:pPr>
            <a:r>
              <a:t>Run real static analysis (Flake8), AST security audits (Bandit), and Pytest test runners; assign normalized IDs (SEC-001, LINT-002, TEST-003).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703320" y="1234440"/>
            <a:ext cx="2331720" cy="393192"/>
          </a:xfrm>
          <a:prstGeom prst="roundRect">
            <a:avLst/>
          </a:prstGeom>
          <a:solidFill>
            <a:srgbClr val="B112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tIns="32004" bIns="0"/>
          <a:lstStyle/>
          <a:p>
            <a:pPr algn="ctr">
              <a:defRPr sz="1500" b="1">
                <a:solidFill>
                  <a:srgbClr val="FFFFFF"/>
                </a:solidFill>
                <a:latin typeface="Aptos Display"/>
              </a:defRPr>
            </a:pPr>
            <a:r>
              <a:t>2  TRIAGE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0" y="1234440"/>
            <a:ext cx="2331720" cy="1600200"/>
          </a:xfrm>
          <a:prstGeom prst="roundRect">
            <a:avLst/>
          </a:prstGeom>
          <a:solidFill>
            <a:srgbClr val="FAF6F6"/>
          </a:solidFill>
          <a:ln w="12700">
            <a:solidFill>
              <a:srgbClr val="EBD2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28016" tIns="484632" bIns="91440"/>
          <a:lstStyle/>
          <a:p>
            <a:pPr algn="ctr">
              <a:spcAft>
                <a:spcPts val="500"/>
              </a:spcAft>
              <a:defRPr sz="1200">
                <a:solidFill>
                  <a:srgbClr val="2C3038"/>
                </a:solidFill>
                <a:latin typeface="Aptos"/>
              </a:defRPr>
            </a:pPr>
            <a:r>
              <a:t>Create targeted repair plan; identify risky dependencies (e.g. deprecated pkg_resources, vulnerable Jinja2) and generate step-by-step migration steps.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0" y="1234440"/>
            <a:ext cx="2331720" cy="393192"/>
          </a:xfrm>
          <a:prstGeom prst="roundRect">
            <a:avLst/>
          </a:prstGeom>
          <a:solidFill>
            <a:srgbClr val="B112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tIns="32004" bIns="0"/>
          <a:lstStyle/>
          <a:p>
            <a:pPr algn="ctr">
              <a:defRPr sz="1500" b="1">
                <a:solidFill>
                  <a:srgbClr val="FFFFFF"/>
                </a:solidFill>
                <a:latin typeface="Aptos Display"/>
              </a:defRPr>
            </a:pPr>
            <a:r>
              <a:t>3  PLAN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05840" y="3337560"/>
            <a:ext cx="2331720" cy="1600200"/>
          </a:xfrm>
          <a:prstGeom prst="roundRect">
            <a:avLst/>
          </a:prstGeom>
          <a:solidFill>
            <a:srgbClr val="FAF6F6"/>
          </a:solidFill>
          <a:ln w="12700">
            <a:solidFill>
              <a:srgbClr val="EBD2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28016" tIns="484632" bIns="91440"/>
          <a:lstStyle/>
          <a:p>
            <a:pPr algn="ctr">
              <a:spcAft>
                <a:spcPts val="500"/>
              </a:spcAft>
              <a:defRPr sz="1200">
                <a:solidFill>
                  <a:srgbClr val="2C3038"/>
                </a:solidFill>
                <a:latin typeface="Aptos"/>
              </a:defRPr>
            </a:pPr>
            <a:r>
              <a:t>Synthesize minimal, surgical code changes and unified diffs (.patch) using open-weight AI models or deterministic fallback engine.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05840" y="3337560"/>
            <a:ext cx="2331720" cy="393192"/>
          </a:xfrm>
          <a:prstGeom prst="roundRect">
            <a:avLst/>
          </a:prstGeom>
          <a:solidFill>
            <a:srgbClr val="B112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tIns="32004" bIns="0"/>
          <a:lstStyle/>
          <a:p>
            <a:pPr algn="ctr">
              <a:defRPr sz="1500" b="1">
                <a:solidFill>
                  <a:srgbClr val="FFFFFF"/>
                </a:solidFill>
                <a:latin typeface="Aptos Display"/>
              </a:defRPr>
            </a:pPr>
            <a:r>
              <a:t>4  PATCH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703320" y="3337560"/>
            <a:ext cx="2331720" cy="1600200"/>
          </a:xfrm>
          <a:prstGeom prst="roundRect">
            <a:avLst/>
          </a:prstGeom>
          <a:solidFill>
            <a:srgbClr val="FAF6F6"/>
          </a:solidFill>
          <a:ln w="12700">
            <a:solidFill>
              <a:srgbClr val="EBD2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28016" tIns="484632" bIns="91440"/>
          <a:lstStyle/>
          <a:p>
            <a:pPr algn="ctr">
              <a:spcAft>
                <a:spcPts val="500"/>
              </a:spcAft>
              <a:defRPr sz="1200">
                <a:solidFill>
                  <a:srgbClr val="2C3038"/>
                </a:solidFill>
                <a:latin typeface="Aptos"/>
              </a:defRPr>
            </a:pPr>
            <a:r>
              <a:t>Execute Differential Sandbox Verification: clone isolated disposable workspace; compare Baseline check (Exit Code 1) vs Sandbox check (Exit Code 0).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703320" y="3337560"/>
            <a:ext cx="2331720" cy="393192"/>
          </a:xfrm>
          <a:prstGeom prst="roundRect">
            <a:avLst/>
          </a:prstGeom>
          <a:solidFill>
            <a:srgbClr val="B112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tIns="32004" bIns="0"/>
          <a:lstStyle/>
          <a:p>
            <a:pPr algn="ctr">
              <a:defRPr sz="1500" b="1">
                <a:solidFill>
                  <a:srgbClr val="FFFFFF"/>
                </a:solidFill>
                <a:latin typeface="Aptos Display"/>
              </a:defRPr>
            </a:pPr>
            <a:r>
              <a:t>5  VERIFY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0" y="3337560"/>
            <a:ext cx="2331720" cy="1600200"/>
          </a:xfrm>
          <a:prstGeom prst="roundRect">
            <a:avLst/>
          </a:prstGeom>
          <a:solidFill>
            <a:srgbClr val="FAF6F6"/>
          </a:solidFill>
          <a:ln w="12700">
            <a:solidFill>
              <a:srgbClr val="EBD2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28016" tIns="484632" bIns="91440"/>
          <a:lstStyle/>
          <a:p>
            <a:pPr algn="ctr">
              <a:spcAft>
                <a:spcPts val="500"/>
              </a:spcAft>
              <a:defRPr sz="1200">
                <a:solidFill>
                  <a:srgbClr val="2C3038"/>
                </a:solidFill>
                <a:latin typeface="Aptos"/>
              </a:defRPr>
            </a:pPr>
            <a:r>
              <a:t>Present interactive diff viewer, verification proof logs, 1-click Git .patch download, and ready-to-paste GitHub PR draft for human maintainer approval.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0" y="3337560"/>
            <a:ext cx="2331720" cy="393192"/>
          </a:xfrm>
          <a:prstGeom prst="roundRect">
            <a:avLst/>
          </a:prstGeom>
          <a:solidFill>
            <a:srgbClr val="B112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tIns="32004" bIns="0"/>
          <a:lstStyle/>
          <a:p>
            <a:pPr algn="ctr">
              <a:defRPr sz="1500" b="1">
                <a:solidFill>
                  <a:srgbClr val="FFFFFF"/>
                </a:solidFill>
                <a:latin typeface="Aptos Display"/>
              </a:defRPr>
            </a:pPr>
            <a:r>
              <a:t>6  REVIEW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1560" y="5230368"/>
            <a:ext cx="7589520" cy="4389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defRPr sz="1300" b="1">
                <a:solidFill>
                  <a:srgbClr val="B1121D"/>
                </a:solidFill>
                <a:latin typeface="Aptos"/>
              </a:defRPr>
            </a:pPr>
            <a:r>
              <a:t>Human-in-the-loop: no patch modifies the repository working tree until its diff and sandbox verification logs are explicitly approved.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37455" y="6834759"/>
            <a:ext cx="1370152" cy="3075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91"/>
              </a:lnSpc>
            </a:pPr>
            <a:r>
              <a:rPr lang="en-US" sz="1493" b="true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8/12/2026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8880986" y="6806384"/>
            <a:ext cx="458648" cy="3075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/>
            <a:r>
              <a:rPr sz="1000">
                <a:solidFill>
                  <a:srgbClr val="5E646E"/>
                </a:solidFill>
              </a:rPr>
              <a:t>3</a:t>
            </a:r>
          </a:p>
        </p:txBody>
      </p:sp>
      <p:sp>
        <p:nvSpPr>
          <p:cNvPr name="AutoShape 4" id="4"/>
          <p:cNvSpPr/>
          <p:nvPr/>
        </p:nvSpPr>
        <p:spPr>
          <a:xfrm rot="1843020">
            <a:off x="9142438" y="6890023"/>
            <a:ext cx="572300" cy="0"/>
          </a:xfrm>
          <a:prstGeom prst="line">
            <a:avLst/>
          </a:prstGeom>
          <a:ln cap="rnd" w="9525">
            <a:solidFill>
              <a:srgbClr val="ED7D31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grpSp>
        <p:nvGrpSpPr>
          <p:cNvPr name="Group 5" id="5"/>
          <p:cNvGrpSpPr/>
          <p:nvPr/>
        </p:nvGrpSpPr>
        <p:grpSpPr>
          <a:xfrm rot="0">
            <a:off x="486" y="144475"/>
            <a:ext cx="453571" cy="6507690"/>
            <a:chOff x="0" y="0"/>
            <a:chExt cx="604761" cy="867691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04774" cy="8676894"/>
            </a:xfrm>
            <a:custGeom>
              <a:avLst/>
              <a:gdLst/>
              <a:ahLst/>
              <a:cxnLst/>
              <a:rect r="r" b="b" t="t" l="l"/>
              <a:pathLst>
                <a:path h="8676894" w="604774">
                  <a:moveTo>
                    <a:pt x="0" y="0"/>
                  </a:moveTo>
                  <a:lnTo>
                    <a:pt x="604774" y="0"/>
                  </a:lnTo>
                  <a:lnTo>
                    <a:pt x="604774" y="8676894"/>
                  </a:lnTo>
                  <a:lnTo>
                    <a:pt x="0" y="86768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84508" t="0" r="-84504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458229" y="144475"/>
            <a:ext cx="163563" cy="5658917"/>
            <a:chOff x="0" y="0"/>
            <a:chExt cx="218084" cy="754522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8059" cy="7545197"/>
            </a:xfrm>
            <a:custGeom>
              <a:avLst/>
              <a:gdLst/>
              <a:ahLst/>
              <a:cxnLst/>
              <a:rect r="r" b="b" t="t" l="l"/>
              <a:pathLst>
                <a:path h="7545197" w="218059">
                  <a:moveTo>
                    <a:pt x="0" y="0"/>
                  </a:moveTo>
                  <a:lnTo>
                    <a:pt x="218059" y="0"/>
                  </a:lnTo>
                  <a:lnTo>
                    <a:pt x="218059" y="7545197"/>
                  </a:lnTo>
                  <a:lnTo>
                    <a:pt x="0" y="75451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93937" t="0" r="-93942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8876424" y="6446749"/>
            <a:ext cx="694944" cy="690648"/>
            <a:chOff x="0" y="0"/>
            <a:chExt cx="926592" cy="920864"/>
          </a:xfrm>
        </p:grpSpPr>
        <p:sp>
          <p:nvSpPr>
            <p:cNvPr name="Freeform 10" id="10" descr="A close up of a sign  Description automatically generated"/>
            <p:cNvSpPr/>
            <p:nvPr/>
          </p:nvSpPr>
          <p:spPr>
            <a:xfrm flipH="false" flipV="false" rot="0">
              <a:off x="0" y="0"/>
              <a:ext cx="926592" cy="920877"/>
            </a:xfrm>
            <a:custGeom>
              <a:avLst/>
              <a:gdLst/>
              <a:ahLst/>
              <a:cxnLst/>
              <a:rect r="r" b="b" t="t" l="l"/>
              <a:pathLst>
                <a:path h="920877" w="926592">
                  <a:moveTo>
                    <a:pt x="0" y="0"/>
                  </a:moveTo>
                  <a:lnTo>
                    <a:pt x="926592" y="0"/>
                  </a:lnTo>
                  <a:lnTo>
                    <a:pt x="926592" y="920877"/>
                  </a:lnTo>
                  <a:lnTo>
                    <a:pt x="0" y="9208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9" t="0" r="-9" b="1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5400000">
            <a:off x="5320132" y="3786969"/>
            <a:ext cx="411718" cy="6700866"/>
            <a:chOff x="0" y="0"/>
            <a:chExt cx="548958" cy="893448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48894" cy="8934450"/>
            </a:xfrm>
            <a:custGeom>
              <a:avLst/>
              <a:gdLst/>
              <a:ahLst/>
              <a:cxnLst/>
              <a:rect r="r" b="b" t="t" l="l"/>
              <a:pathLst>
                <a:path h="8934450" w="548894">
                  <a:moveTo>
                    <a:pt x="0" y="0"/>
                  </a:moveTo>
                  <a:lnTo>
                    <a:pt x="548894" y="0"/>
                  </a:lnTo>
                  <a:lnTo>
                    <a:pt x="548894" y="8934450"/>
                  </a:lnTo>
                  <a:lnTo>
                    <a:pt x="0" y="89344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02593" t="0" r="-102605" b="0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5400000">
            <a:off x="5433241" y="3502876"/>
            <a:ext cx="185499" cy="6700866"/>
            <a:chOff x="0" y="0"/>
            <a:chExt cx="247333" cy="893448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47269" cy="8934450"/>
            </a:xfrm>
            <a:custGeom>
              <a:avLst/>
              <a:gdLst/>
              <a:ahLst/>
              <a:cxnLst/>
              <a:rect r="r" b="b" t="t" l="l"/>
              <a:pathLst>
                <a:path h="8934450" w="247269">
                  <a:moveTo>
                    <a:pt x="0" y="0"/>
                  </a:moveTo>
                  <a:lnTo>
                    <a:pt x="247269" y="0"/>
                  </a:lnTo>
                  <a:lnTo>
                    <a:pt x="247269" y="8934450"/>
                  </a:lnTo>
                  <a:lnTo>
                    <a:pt x="0" y="89344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00297" t="0" r="-100323" b="0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14671" y="6729946"/>
            <a:ext cx="1948291" cy="542058"/>
            <a:chOff x="0" y="0"/>
            <a:chExt cx="2597722" cy="722744"/>
          </a:xfrm>
        </p:grpSpPr>
        <p:sp>
          <p:nvSpPr>
            <p:cNvPr name="Freeform 16" id="16" descr="C:\Users\admin\Downloads\university-png\Group 5@3x.png"/>
            <p:cNvSpPr/>
            <p:nvPr/>
          </p:nvSpPr>
          <p:spPr>
            <a:xfrm flipH="false" flipV="false" rot="0">
              <a:off x="0" y="0"/>
              <a:ext cx="2597658" cy="722757"/>
            </a:xfrm>
            <a:custGeom>
              <a:avLst/>
              <a:gdLst/>
              <a:ahLst/>
              <a:cxnLst/>
              <a:rect r="r" b="b" t="t" l="l"/>
              <a:pathLst>
                <a:path h="722757" w="2597658">
                  <a:moveTo>
                    <a:pt x="0" y="0"/>
                  </a:moveTo>
                  <a:lnTo>
                    <a:pt x="2597658" y="0"/>
                  </a:lnTo>
                  <a:lnTo>
                    <a:pt x="2597658" y="722757"/>
                  </a:lnTo>
                  <a:lnTo>
                    <a:pt x="0" y="72275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-2" b="-6327"/>
              </a:stretch>
            </a:blip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963254" y="293903"/>
            <a:ext cx="7713526" cy="5633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47"/>
              </a:lnSpc>
            </a:pPr>
            <a:r>
              <a:rPr lang="en-US" sz="3840">
                <a:solidFill>
                  <a:srgbClr val="930B0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Technical Approach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7983309" y="23147"/>
            <a:ext cx="1770291" cy="965613"/>
          </a:xfrm>
          <a:custGeom>
            <a:avLst/>
            <a:gdLst/>
            <a:ahLst/>
            <a:cxnLst/>
            <a:rect r="r" b="b" t="t" l="l"/>
            <a:pathLst>
              <a:path h="965613" w="1770291">
                <a:moveTo>
                  <a:pt x="0" y="0"/>
                </a:moveTo>
                <a:lnTo>
                  <a:pt x="1770291" y="0"/>
                </a:lnTo>
                <a:lnTo>
                  <a:pt x="1770291" y="965614"/>
                </a:lnTo>
                <a:lnTo>
                  <a:pt x="0" y="96561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id="19" name="Rounded Rectangle 18"/>
          <p:cNvSpPr/>
          <p:nvPr/>
        </p:nvSpPr>
        <p:spPr>
          <a:xfrm>
            <a:off x="1005840" y="1234440"/>
            <a:ext cx="3703320" cy="1874519"/>
          </a:xfrm>
          <a:prstGeom prst="roundRect">
            <a:avLst/>
          </a:prstGeom>
          <a:solidFill>
            <a:srgbClr val="FAF6F6"/>
          </a:solidFill>
          <a:ln w="12700">
            <a:solidFill>
              <a:srgbClr val="EBD2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28016" tIns="484632" bIns="91440"/>
          <a:lstStyle/>
          <a:p>
            <a:pPr algn="ctr">
              <a:spcAft>
                <a:spcPts val="500"/>
              </a:spcAft>
              <a:defRPr sz="1400">
                <a:solidFill>
                  <a:srgbClr val="2C3038"/>
                </a:solidFill>
                <a:latin typeface="Aptos"/>
              </a:defRPr>
            </a:pPr>
            <a:r>
              <a:t>• Inspect directory trees and multi-manifest packages (requirements.txt, package.json)</a:t>
            </a:r>
          </a:p>
          <a:p>
            <a:pPr>
              <a:spcAft>
                <a:spcPts val="500"/>
              </a:spcAft>
              <a:defRPr sz="1400">
                <a:solidFill>
                  <a:srgbClr val="2C3038"/>
                </a:solidFill>
                <a:latin typeface="Aptos"/>
              </a:defRPr>
            </a:pPr>
            <a:r>
              <a:t>• Search symbols and references to narrow the relevant code</a:t>
            </a:r>
          </a:p>
          <a:p>
            <a:pPr>
              <a:spcAft>
                <a:spcPts val="500"/>
              </a:spcAft>
              <a:defRPr sz="1400">
                <a:solidFill>
                  <a:srgbClr val="2C3038"/>
                </a:solidFill>
                <a:latin typeface="Aptos"/>
              </a:defRPr>
            </a:pPr>
            <a:r>
              <a:t>• Use parser/AST or lightweight static checks where available</a:t>
            </a:r>
          </a:p>
          <a:p>
            <a:r>
              <a:t>• AST security scanner (Bandit) catches production risks (B101 assert bypasses)</a:t>
            </a:r>
          </a:p>
          <a:p>
            <a:r>
              <a:t>• Real linter execution (Flake8) detects PEP 8 violations with exact file and line coordinates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05840" y="1234440"/>
            <a:ext cx="3703320" cy="393192"/>
          </a:xfrm>
          <a:prstGeom prst="roundRect">
            <a:avLst/>
          </a:prstGeom>
          <a:solidFill>
            <a:srgbClr val="B112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tIns="32004" bIns="0"/>
          <a:lstStyle/>
          <a:p>
            <a:pPr algn="ctr">
              <a:defRPr sz="1500" b="1">
                <a:solidFill>
                  <a:srgbClr val="FFFFFF"/>
                </a:solidFill>
                <a:latin typeface="Aptos Display"/>
              </a:defRPr>
            </a:pPr>
            <a:r>
              <a:t>REPOSITORY UNDERSTANDING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983480" y="1234440"/>
            <a:ext cx="3703320" cy="1874519"/>
          </a:xfrm>
          <a:prstGeom prst="roundRect">
            <a:avLst/>
          </a:prstGeom>
          <a:solidFill>
            <a:srgbClr val="FAF6F6"/>
          </a:solidFill>
          <a:ln w="12700">
            <a:solidFill>
              <a:srgbClr val="EBD2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28016" tIns="484632" bIns="91440"/>
          <a:lstStyle/>
          <a:p>
            <a:pPr algn="ctr">
              <a:spcAft>
                <a:spcPts val="500"/>
              </a:spcAft>
              <a:defRPr sz="1400">
                <a:solidFill>
                  <a:srgbClr val="2C3038"/>
                </a:solidFill>
                <a:latin typeface="Aptos"/>
              </a:defRPr>
            </a:pPr>
            <a:r>
              <a:t>• Multi-Engine: Open-Weight LLMs (Llama 3.3 / Qwen 2.5) + Deterministic Fallback Engine</a:t>
            </a:r>
          </a:p>
          <a:p>
            <a:pPr>
              <a:spcAft>
                <a:spcPts val="500"/>
              </a:spcAft>
              <a:defRPr sz="1400">
                <a:solidFill>
                  <a:srgbClr val="2C3038"/>
                </a:solidFill>
                <a:latin typeface="Aptos"/>
              </a:defRPr>
            </a:pPr>
            <a:r>
              <a:t>• Ask for a minimal patch, rationale and test ideas</a:t>
            </a:r>
          </a:p>
          <a:p>
            <a:pPr>
              <a:spcAft>
                <a:spcPts val="500"/>
              </a:spcAft>
              <a:defRPr sz="1400">
                <a:solidFill>
                  <a:srgbClr val="2C3038"/>
                </a:solidFill>
                <a:latin typeface="Aptos"/>
              </a:defRPr>
            </a:pPr>
            <a:r>
              <a:t>• Keep changes scoped; avoid unrelated refactoring</a:t>
            </a:r>
          </a:p>
          <a:p>
            <a:r>
              <a:t>• High-Risk Dependency Modernization: upgrades legacy APIs (pkg_resources → importlib.resources)</a:t>
            </a:r>
          </a:p>
          <a:p>
            <a:r>
              <a:t>• Keep changes strictly scoped; avoid hallucinated code or unrelated refactoring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983480" y="1234440"/>
            <a:ext cx="3703320" cy="393192"/>
          </a:xfrm>
          <a:prstGeom prst="roundRect">
            <a:avLst/>
          </a:prstGeom>
          <a:solidFill>
            <a:srgbClr val="B112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tIns="32004" bIns="0"/>
          <a:lstStyle/>
          <a:p>
            <a:pPr algn="ctr">
              <a:defRPr sz="1500" b="1">
                <a:solidFill>
                  <a:srgbClr val="FFFFFF"/>
                </a:solidFill>
                <a:latin typeface="Aptos Display"/>
              </a:defRPr>
            </a:pPr>
            <a:r>
              <a:t>AI-ASSISTED REPAIR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05840" y="3429000"/>
            <a:ext cx="3703320" cy="1691640"/>
          </a:xfrm>
          <a:prstGeom prst="roundRect">
            <a:avLst/>
          </a:prstGeom>
          <a:solidFill>
            <a:srgbClr val="FAF6F6"/>
          </a:solidFill>
          <a:ln w="12700">
            <a:solidFill>
              <a:srgbClr val="EBD2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28016" tIns="484632" bIns="91440"/>
          <a:lstStyle/>
          <a:p>
            <a:pPr algn="ctr">
              <a:spcAft>
                <a:spcPts val="500"/>
              </a:spcAft>
              <a:defRPr sz="1300">
                <a:solidFill>
                  <a:srgbClr val="2C3038"/>
                </a:solidFill>
                <a:latin typeface="Aptos"/>
              </a:defRPr>
            </a:pPr>
            <a:r>
              <a:t>• Clone disposable sandbox workspace (verify_PROP-*) leaving original repository untouched</a:t>
            </a:r>
          </a:p>
          <a:p>
            <a:pPr>
              <a:spcAft>
                <a:spcPts val="500"/>
              </a:spcAft>
              <a:defRPr sz="1300">
                <a:solidFill>
                  <a:srgbClr val="2C3038"/>
                </a:solidFill>
                <a:latin typeface="Aptos"/>
              </a:defRPr>
            </a:pPr>
            <a:r>
              <a:t>• Run project tests and available lint/type checks</a:t>
            </a:r>
          </a:p>
          <a:p>
            <a:pPr>
              <a:spcAft>
                <a:spcPts val="500"/>
              </a:spcAft>
              <a:defRPr sz="1300">
                <a:solidFill>
                  <a:srgbClr val="2C3038"/>
                </a:solidFill>
                <a:latin typeface="Aptos"/>
              </a:defRPr>
            </a:pPr>
            <a:r>
              <a:t>• Capture command output and distinguish pass, fail or not run</a:t>
            </a:r>
          </a:p>
          <a:p>
            <a:r>
              <a:t>• Run genuine project tests (pytest -v) and dependency audits under bounded timeouts</a:t>
            </a:r>
          </a:p>
          <a:p>
            <a:r>
              <a:t>• Differential outcome recorded: verifies transition from Baseline FAIL (1) to Sandbox PASS (0)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05840" y="3429000"/>
            <a:ext cx="3703320" cy="393192"/>
          </a:xfrm>
          <a:prstGeom prst="roundRect">
            <a:avLst/>
          </a:prstGeom>
          <a:solidFill>
            <a:srgbClr val="B112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tIns="32004" bIns="0"/>
          <a:lstStyle/>
          <a:p>
            <a:pPr algn="ctr">
              <a:defRPr sz="1500" b="1">
                <a:solidFill>
                  <a:srgbClr val="FFFFFF"/>
                </a:solidFill>
                <a:latin typeface="Aptos Display"/>
              </a:defRPr>
            </a:pPr>
            <a:r>
              <a:t>VALIDATION LOOP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983480" y="3429000"/>
            <a:ext cx="3703320" cy="1691640"/>
          </a:xfrm>
          <a:prstGeom prst="roundRect">
            <a:avLst/>
          </a:prstGeom>
          <a:solidFill>
            <a:srgbClr val="FAF6F6"/>
          </a:solidFill>
          <a:ln w="12700">
            <a:solidFill>
              <a:srgbClr val="EBD2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28016" tIns="484632" bIns="91440"/>
          <a:lstStyle/>
          <a:p>
            <a:pPr algn="ctr">
              <a:spcAft>
                <a:spcPts val="500"/>
              </a:spcAft>
              <a:defRPr sz="1300">
                <a:solidFill>
                  <a:srgbClr val="2C3038"/>
                </a:solidFill>
                <a:latin typeface="Aptos"/>
              </a:defRPr>
            </a:pPr>
            <a:r>
              <a:t>• Strict maintainer approval required before any working tree application or merge</a:t>
            </a:r>
          </a:p>
          <a:p>
            <a:pPr>
              <a:spcAft>
                <a:spcPts val="500"/>
              </a:spcAft>
              <a:defRPr sz="1300">
                <a:solidFill>
                  <a:srgbClr val="2C3038"/>
                </a:solidFill>
                <a:latin typeface="Aptos"/>
              </a:defRPr>
            </a:pPr>
            <a:r>
              <a:t>• No secrets in prompts or logs; restrict tool permissions</a:t>
            </a:r>
          </a:p>
          <a:p>
            <a:pPr>
              <a:spcAft>
                <a:spcPts val="500"/>
              </a:spcAft>
              <a:defRPr sz="1300">
                <a:solidFill>
                  <a:srgbClr val="2C3038"/>
                </a:solidFill>
                <a:latin typeface="Aptos"/>
              </a:defRPr>
            </a:pPr>
            <a:r>
              <a:t>• Treat repository files and issue text as untrusted input</a:t>
            </a:r>
          </a:p>
          <a:p>
            <a:r>
              <a:t>• SSRF &amp; Path Traversal Guards: rejects local file schemes and private IP ranges</a:t>
            </a:r>
          </a:p>
          <a:p>
            <a:r>
              <a:t>• Clear provenance: distinctly tags AI proposals from verified sandbox test results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983480" y="3429000"/>
            <a:ext cx="3703320" cy="393192"/>
          </a:xfrm>
          <a:prstGeom prst="roundRect">
            <a:avLst/>
          </a:prstGeom>
          <a:solidFill>
            <a:srgbClr val="B112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tIns="32004" bIns="0"/>
          <a:lstStyle/>
          <a:p>
            <a:pPr algn="ctr">
              <a:defRPr sz="1500" b="1">
                <a:solidFill>
                  <a:srgbClr val="FFFFFF"/>
                </a:solidFill>
                <a:latin typeface="Aptos Display"/>
              </a:defRPr>
            </a:pPr>
            <a:r>
              <a:t>SAFETY &amp; CONTROL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" y="5413248"/>
            <a:ext cx="7543800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defRPr sz="1300" b="1">
                <a:solidFill>
                  <a:srgbClr val="B1121D"/>
                </a:solidFill>
                <a:latin typeface="Aptos"/>
              </a:defRPr>
            </a:pPr>
            <a:r>
              <a:t>Core output: synthesized unified diff + sandbox verification proof + GitHub PR draft, never an unverified claim.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37455" y="6834759"/>
            <a:ext cx="1370152" cy="3075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91"/>
              </a:lnSpc>
            </a:pPr>
            <a:r>
              <a:rPr lang="en-US" sz="1493" b="true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8/12/2026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8880986" y="6806384"/>
            <a:ext cx="458648" cy="3075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/>
            <a:r>
              <a:rPr sz="1000">
                <a:solidFill>
                  <a:srgbClr val="5E646E"/>
                </a:solidFill>
              </a:rPr>
              <a:t>4</a:t>
            </a:r>
          </a:p>
        </p:txBody>
      </p:sp>
      <p:sp>
        <p:nvSpPr>
          <p:cNvPr name="AutoShape 4" id="4"/>
          <p:cNvSpPr/>
          <p:nvPr/>
        </p:nvSpPr>
        <p:spPr>
          <a:xfrm rot="1843020">
            <a:off x="9142438" y="6890023"/>
            <a:ext cx="572300" cy="0"/>
          </a:xfrm>
          <a:prstGeom prst="line">
            <a:avLst/>
          </a:prstGeom>
          <a:ln cap="rnd" w="9525">
            <a:solidFill>
              <a:srgbClr val="ED7D31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grpSp>
        <p:nvGrpSpPr>
          <p:cNvPr name="Group 5" id="5"/>
          <p:cNvGrpSpPr/>
          <p:nvPr/>
        </p:nvGrpSpPr>
        <p:grpSpPr>
          <a:xfrm rot="0">
            <a:off x="486" y="144475"/>
            <a:ext cx="453571" cy="6507690"/>
            <a:chOff x="0" y="0"/>
            <a:chExt cx="604761" cy="867691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04774" cy="8676894"/>
            </a:xfrm>
            <a:custGeom>
              <a:avLst/>
              <a:gdLst/>
              <a:ahLst/>
              <a:cxnLst/>
              <a:rect r="r" b="b" t="t" l="l"/>
              <a:pathLst>
                <a:path h="8676894" w="604774">
                  <a:moveTo>
                    <a:pt x="0" y="0"/>
                  </a:moveTo>
                  <a:lnTo>
                    <a:pt x="604774" y="0"/>
                  </a:lnTo>
                  <a:lnTo>
                    <a:pt x="604774" y="8676894"/>
                  </a:lnTo>
                  <a:lnTo>
                    <a:pt x="0" y="86768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84508" t="0" r="-84504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458229" y="144475"/>
            <a:ext cx="163563" cy="5658917"/>
            <a:chOff x="0" y="0"/>
            <a:chExt cx="218084" cy="754522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8059" cy="7545197"/>
            </a:xfrm>
            <a:custGeom>
              <a:avLst/>
              <a:gdLst/>
              <a:ahLst/>
              <a:cxnLst/>
              <a:rect r="r" b="b" t="t" l="l"/>
              <a:pathLst>
                <a:path h="7545197" w="218059">
                  <a:moveTo>
                    <a:pt x="0" y="0"/>
                  </a:moveTo>
                  <a:lnTo>
                    <a:pt x="218059" y="0"/>
                  </a:lnTo>
                  <a:lnTo>
                    <a:pt x="218059" y="7545197"/>
                  </a:lnTo>
                  <a:lnTo>
                    <a:pt x="0" y="75451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93937" t="0" r="-93942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8876424" y="6446749"/>
            <a:ext cx="694944" cy="690648"/>
            <a:chOff x="0" y="0"/>
            <a:chExt cx="926592" cy="920864"/>
          </a:xfrm>
        </p:grpSpPr>
        <p:sp>
          <p:nvSpPr>
            <p:cNvPr name="Freeform 10" id="10" descr="A close up of a sign  Description automatically generated"/>
            <p:cNvSpPr/>
            <p:nvPr/>
          </p:nvSpPr>
          <p:spPr>
            <a:xfrm flipH="false" flipV="false" rot="0">
              <a:off x="0" y="0"/>
              <a:ext cx="926592" cy="920877"/>
            </a:xfrm>
            <a:custGeom>
              <a:avLst/>
              <a:gdLst/>
              <a:ahLst/>
              <a:cxnLst/>
              <a:rect r="r" b="b" t="t" l="l"/>
              <a:pathLst>
                <a:path h="920877" w="926592">
                  <a:moveTo>
                    <a:pt x="0" y="0"/>
                  </a:moveTo>
                  <a:lnTo>
                    <a:pt x="926592" y="0"/>
                  </a:lnTo>
                  <a:lnTo>
                    <a:pt x="926592" y="920877"/>
                  </a:lnTo>
                  <a:lnTo>
                    <a:pt x="0" y="9208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9" t="0" r="-9" b="1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5400000">
            <a:off x="5320132" y="3786969"/>
            <a:ext cx="411718" cy="6700866"/>
            <a:chOff x="0" y="0"/>
            <a:chExt cx="548958" cy="893448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48894" cy="8934450"/>
            </a:xfrm>
            <a:custGeom>
              <a:avLst/>
              <a:gdLst/>
              <a:ahLst/>
              <a:cxnLst/>
              <a:rect r="r" b="b" t="t" l="l"/>
              <a:pathLst>
                <a:path h="8934450" w="548894">
                  <a:moveTo>
                    <a:pt x="0" y="0"/>
                  </a:moveTo>
                  <a:lnTo>
                    <a:pt x="548894" y="0"/>
                  </a:lnTo>
                  <a:lnTo>
                    <a:pt x="548894" y="8934450"/>
                  </a:lnTo>
                  <a:lnTo>
                    <a:pt x="0" y="89344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02593" t="0" r="-102605" b="0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5400000">
            <a:off x="5433241" y="3502876"/>
            <a:ext cx="185499" cy="6700866"/>
            <a:chOff x="0" y="0"/>
            <a:chExt cx="247333" cy="893448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47269" cy="8934450"/>
            </a:xfrm>
            <a:custGeom>
              <a:avLst/>
              <a:gdLst/>
              <a:ahLst/>
              <a:cxnLst/>
              <a:rect r="r" b="b" t="t" l="l"/>
              <a:pathLst>
                <a:path h="8934450" w="247269">
                  <a:moveTo>
                    <a:pt x="0" y="0"/>
                  </a:moveTo>
                  <a:lnTo>
                    <a:pt x="247269" y="0"/>
                  </a:lnTo>
                  <a:lnTo>
                    <a:pt x="247269" y="8934450"/>
                  </a:lnTo>
                  <a:lnTo>
                    <a:pt x="0" y="89344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00297" t="0" r="-100323" b="0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14671" y="6729946"/>
            <a:ext cx="1948291" cy="542058"/>
            <a:chOff x="0" y="0"/>
            <a:chExt cx="2597722" cy="722744"/>
          </a:xfrm>
        </p:grpSpPr>
        <p:sp>
          <p:nvSpPr>
            <p:cNvPr name="Freeform 16" id="16" descr="C:\Users\admin\Downloads\university-png\Group 5@3x.png"/>
            <p:cNvSpPr/>
            <p:nvPr/>
          </p:nvSpPr>
          <p:spPr>
            <a:xfrm flipH="false" flipV="false" rot="0">
              <a:off x="0" y="0"/>
              <a:ext cx="2597658" cy="722757"/>
            </a:xfrm>
            <a:custGeom>
              <a:avLst/>
              <a:gdLst/>
              <a:ahLst/>
              <a:cxnLst/>
              <a:rect r="r" b="b" t="t" l="l"/>
              <a:pathLst>
                <a:path h="722757" w="2597658">
                  <a:moveTo>
                    <a:pt x="0" y="0"/>
                  </a:moveTo>
                  <a:lnTo>
                    <a:pt x="2597658" y="0"/>
                  </a:lnTo>
                  <a:lnTo>
                    <a:pt x="2597658" y="722757"/>
                  </a:lnTo>
                  <a:lnTo>
                    <a:pt x="0" y="72275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-2" b="-6327"/>
              </a:stretch>
            </a:blip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963254" y="293903"/>
            <a:ext cx="7713526" cy="5633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47"/>
              </a:lnSpc>
            </a:pPr>
            <a:r>
              <a:rPr lang="en-US" sz="3840">
                <a:solidFill>
                  <a:srgbClr val="930B0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Feasability &amp; Viability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7983309" y="23147"/>
            <a:ext cx="1770291" cy="965613"/>
          </a:xfrm>
          <a:custGeom>
            <a:avLst/>
            <a:gdLst/>
            <a:ahLst/>
            <a:cxnLst/>
            <a:rect r="r" b="b" t="t" l="l"/>
            <a:pathLst>
              <a:path h="965613" w="1770291">
                <a:moveTo>
                  <a:pt x="0" y="0"/>
                </a:moveTo>
                <a:lnTo>
                  <a:pt x="1770291" y="0"/>
                </a:lnTo>
                <a:lnTo>
                  <a:pt x="1770291" y="965614"/>
                </a:lnTo>
                <a:lnTo>
                  <a:pt x="0" y="96561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id="19" name="Rounded Rectangle 18"/>
          <p:cNvSpPr/>
          <p:nvPr/>
        </p:nvSpPr>
        <p:spPr>
          <a:xfrm>
            <a:off x="1005840" y="1234440"/>
            <a:ext cx="3703320" cy="1828800"/>
          </a:xfrm>
          <a:prstGeom prst="roundRect">
            <a:avLst/>
          </a:prstGeom>
          <a:solidFill>
            <a:srgbClr val="FAF6F6"/>
          </a:solidFill>
          <a:ln w="12700">
            <a:solidFill>
              <a:srgbClr val="EBD2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28016" tIns="484632" bIns="91440"/>
          <a:lstStyle/>
          <a:p>
            <a:pPr algn="ctr">
              <a:spcAft>
                <a:spcPts val="500"/>
              </a:spcAft>
              <a:defRPr sz="1400">
                <a:solidFill>
                  <a:srgbClr val="2C3038"/>
                </a:solidFill>
                <a:latin typeface="Aptos"/>
              </a:defRPr>
            </a:pPr>
            <a:r>
              <a:t>• Fully functional &amp; tested on live benchmark repositories (LinkWatch: 35 real findings remediated)</a:t>
            </a:r>
          </a:p>
          <a:p>
            <a:pPr>
              <a:spcAft>
                <a:spcPts val="500"/>
              </a:spcAft>
              <a:defRPr sz="1400">
                <a:solidFill>
                  <a:srgbClr val="2C3038"/>
                </a:solidFill>
                <a:latin typeface="Aptos"/>
              </a:defRPr>
            </a:pPr>
            <a:r>
              <a:t>• Reuses Git, existing test commands and common static-analysis tools</a:t>
            </a:r>
          </a:p>
          <a:p>
            <a:pPr>
              <a:spcAft>
                <a:spcPts val="500"/>
              </a:spcAft>
              <a:defRPr sz="1400">
                <a:solidFill>
                  <a:srgbClr val="2C3038"/>
                </a:solidFill>
                <a:latin typeface="Aptos"/>
              </a:defRPr>
            </a:pPr>
            <a:r>
              <a:t>• Can begin with bug-fix suggestions before autonomous editing</a:t>
            </a:r>
          </a:p>
          <a:p>
            <a:r>
              <a:t>• Reuses native Git commands, AST analyzers, and standard test runners (pytest, flake8, bandit)</a:t>
            </a:r>
          </a:p>
          <a:p>
            <a:r>
              <a:t>• 1-Click Download Git Patch (.patch) directly integrates into existing developer workflows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05840" y="1234440"/>
            <a:ext cx="3703320" cy="393192"/>
          </a:xfrm>
          <a:prstGeom prst="roundRect">
            <a:avLst/>
          </a:prstGeom>
          <a:solidFill>
            <a:srgbClr val="B112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tIns="32004" bIns="0"/>
          <a:lstStyle/>
          <a:p>
            <a:pPr algn="ctr">
              <a:defRPr sz="1500" b="1">
                <a:solidFill>
                  <a:srgbClr val="FFFFFF"/>
                </a:solidFill>
                <a:latin typeface="Aptos Display"/>
              </a:defRPr>
            </a:pPr>
            <a:r>
              <a:t>MVP IS PRACTICAL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983480" y="1234440"/>
            <a:ext cx="3703320" cy="1828800"/>
          </a:xfrm>
          <a:prstGeom prst="roundRect">
            <a:avLst/>
          </a:prstGeom>
          <a:solidFill>
            <a:srgbClr val="FAF6F6"/>
          </a:solidFill>
          <a:ln w="12700">
            <a:solidFill>
              <a:srgbClr val="EBD2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28016" tIns="484632" bIns="91440"/>
          <a:lstStyle/>
          <a:p>
            <a:pPr algn="ctr">
              <a:spcAft>
                <a:spcPts val="500"/>
              </a:spcAft>
              <a:defRPr sz="1400">
                <a:solidFill>
                  <a:srgbClr val="2C3038"/>
                </a:solidFill>
                <a:latin typeface="Aptos"/>
              </a:defRPr>
            </a:pPr>
            <a:r>
              <a:t>• Decoupled modular pipeline: Repository Ingestion, Diagnostic Engine, Model Provider, Sandbox Ward</a:t>
            </a:r>
          </a:p>
          <a:p>
            <a:pPr>
              <a:spcAft>
                <a:spcPts val="500"/>
              </a:spcAft>
              <a:defRPr sz="1400">
                <a:solidFill>
                  <a:srgbClr val="2C3038"/>
                </a:solidFill>
                <a:latin typeface="Aptos"/>
              </a:defRPr>
            </a:pPr>
            <a:r>
              <a:t>• Configurable test/lint commands support different stacks</a:t>
            </a:r>
          </a:p>
          <a:p>
            <a:pPr>
              <a:spcAft>
                <a:spcPts val="500"/>
              </a:spcAft>
              <a:defRPr sz="1400">
                <a:solidFill>
                  <a:srgbClr val="2C3038"/>
                </a:solidFill>
                <a:latin typeface="Aptos"/>
              </a:defRPr>
            </a:pPr>
            <a:r>
              <a:t>• Structured issue → patch → verification workflow is repeatable</a:t>
            </a:r>
          </a:p>
          <a:p>
            <a:r>
              <a:t>• Readily extensible architecture supports Python, JavaScript/TypeScript, Go, and Rust stacks</a:t>
            </a:r>
          </a:p>
          <a:p>
            <a:r>
              <a:t>• Exports standard Dependency Exit Capsule (JSON Schema 1.0.0 &amp; Markdown) for audit compliance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983480" y="1234440"/>
            <a:ext cx="3703320" cy="393192"/>
          </a:xfrm>
          <a:prstGeom prst="roundRect">
            <a:avLst/>
          </a:prstGeom>
          <a:solidFill>
            <a:srgbClr val="B112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tIns="32004" bIns="0"/>
          <a:lstStyle/>
          <a:p>
            <a:pPr algn="ctr">
              <a:defRPr sz="1500" b="1">
                <a:solidFill>
                  <a:srgbClr val="FFFFFF"/>
                </a:solidFill>
                <a:latin typeface="Aptos Display"/>
              </a:defRPr>
            </a:pPr>
            <a:r>
              <a:t>REUSABLE BY DESIGN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05840" y="3383280"/>
            <a:ext cx="3703320" cy="1737360"/>
          </a:xfrm>
          <a:prstGeom prst="roundRect">
            <a:avLst/>
          </a:prstGeom>
          <a:solidFill>
            <a:srgbClr val="FAF6F6"/>
          </a:solidFill>
          <a:ln w="12700">
            <a:solidFill>
              <a:srgbClr val="EBD2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28016" tIns="484632" bIns="91440"/>
          <a:lstStyle/>
          <a:p>
            <a:pPr algn="ctr">
              <a:spcAft>
                <a:spcPts val="500"/>
              </a:spcAft>
              <a:defRPr sz="1300">
                <a:solidFill>
                  <a:srgbClr val="2C3038"/>
                </a:solidFill>
                <a:latin typeface="Aptos"/>
              </a:defRPr>
            </a:pPr>
            <a:r>
              <a:t>• Lightweight FastAPI backend and React Vite frontend run with minimal compute overhead</a:t>
            </a:r>
          </a:p>
          <a:p>
            <a:pPr>
              <a:spcAft>
                <a:spcPts val="500"/>
              </a:spcAft>
              <a:defRPr sz="1300">
                <a:solidFill>
                  <a:srgbClr val="2C3038"/>
                </a:solidFill>
                <a:latin typeface="Aptos"/>
              </a:defRPr>
            </a:pPr>
            <a:r>
              <a:t>• Limit context to relevant files to manage latency and token cost</a:t>
            </a:r>
          </a:p>
          <a:p>
            <a:pPr>
              <a:spcAft>
                <a:spcPts val="500"/>
              </a:spcAft>
              <a:defRPr sz="1300">
                <a:solidFill>
                  <a:srgbClr val="2C3038"/>
                </a:solidFill>
                <a:latin typeface="Aptos"/>
              </a:defRPr>
            </a:pPr>
            <a:r>
              <a:t>• Cache repository metadata where appropriate</a:t>
            </a:r>
          </a:p>
          <a:p>
            <a:r>
              <a:t>• Deterministic fallback engine allows 100% truthful local remediation without cloud GPU/API costs</a:t>
            </a:r>
          </a:p>
          <a:p>
            <a:r>
              <a:t>• Fast isolated sandbox execution (&lt; 5 seconds) minimizes token usage and execution latency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05840" y="3383280"/>
            <a:ext cx="3703320" cy="393192"/>
          </a:xfrm>
          <a:prstGeom prst="roundRect">
            <a:avLst/>
          </a:prstGeom>
          <a:solidFill>
            <a:srgbClr val="B112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tIns="32004" bIns="0"/>
          <a:lstStyle/>
          <a:p>
            <a:pPr algn="ctr">
              <a:defRPr sz="1500" b="1">
                <a:solidFill>
                  <a:srgbClr val="FFFFFF"/>
                </a:solidFill>
                <a:latin typeface="Aptos Display"/>
              </a:defRPr>
            </a:pPr>
            <a:r>
              <a:t>COST &amp; RESOURCES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983480" y="3383280"/>
            <a:ext cx="3703320" cy="1737360"/>
          </a:xfrm>
          <a:prstGeom prst="roundRect">
            <a:avLst/>
          </a:prstGeom>
          <a:solidFill>
            <a:srgbClr val="FAF6F6"/>
          </a:solidFill>
          <a:ln w="12700">
            <a:solidFill>
              <a:srgbClr val="EBD2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28016" tIns="484632" bIns="91440"/>
          <a:lstStyle/>
          <a:p>
            <a:pPr algn="ctr">
              <a:spcAft>
                <a:spcPts val="500"/>
              </a:spcAft>
              <a:defRPr sz="1300">
                <a:solidFill>
                  <a:srgbClr val="2C3038"/>
                </a:solidFill>
                <a:latin typeface="Aptos"/>
              </a:defRPr>
            </a:pPr>
            <a:r>
              <a:t>• AI Hallucinations / Regressions → Differential Sandbox Test Ward flags any non-zero exit code as FAIL</a:t>
            </a:r>
          </a:p>
          <a:p>
            <a:pPr>
              <a:spcAft>
                <a:spcPts val="500"/>
              </a:spcAft>
              <a:defRPr sz="1300">
                <a:solidFill>
                  <a:srgbClr val="2C3038"/>
                </a:solidFill>
                <a:latin typeface="Aptos"/>
              </a:defRPr>
            </a:pPr>
            <a:r>
              <a:t>• Missing tests → mark confidence as limited</a:t>
            </a:r>
          </a:p>
          <a:p>
            <a:pPr>
              <a:spcAft>
                <a:spcPts val="500"/>
              </a:spcAft>
              <a:defRPr sz="1300">
                <a:solidFill>
                  <a:srgbClr val="2C3038"/>
                </a:solidFill>
                <a:latin typeface="Aptos"/>
              </a:defRPr>
            </a:pPr>
            <a:r>
              <a:t>• Prompt injection/secrets → sandbox tools and redact sensitive data</a:t>
            </a:r>
          </a:p>
          <a:p>
            <a:r>
              <a:t>• Dependency Vulnerabilities → Automated CVE scanner identifies risky package pins &amp; safe replacements</a:t>
            </a:r>
          </a:p>
          <a:p>
            <a:r>
              <a:t>• Secrets &amp; Data Leakage → Restricts sandbox filesystem bounds and redacts environment tokens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983480" y="3383280"/>
            <a:ext cx="3703320" cy="393192"/>
          </a:xfrm>
          <a:prstGeom prst="roundRect">
            <a:avLst/>
          </a:prstGeom>
          <a:solidFill>
            <a:srgbClr val="B112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tIns="32004" bIns="0"/>
          <a:lstStyle/>
          <a:p>
            <a:pPr algn="ctr">
              <a:defRPr sz="1500" b="1">
                <a:solidFill>
                  <a:srgbClr val="FFFFFF"/>
                </a:solidFill>
                <a:latin typeface="Aptos Display"/>
              </a:defRPr>
            </a:pPr>
            <a:r>
              <a:t>RISKS &amp; MITIGATIONS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" y="5394960"/>
            <a:ext cx="777240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defRPr sz="1300" b="1">
                <a:solidFill>
                  <a:srgbClr val="B1121D"/>
                </a:solidFill>
                <a:latin typeface="Aptos"/>
              </a:defRPr>
            </a:pPr>
            <a:r>
              <a:t>Success measures: 100% verified test pass rate • Zero hallucinated claims • Differential exit code verification (1 → 0).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37455" y="6834759"/>
            <a:ext cx="1370152" cy="3075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91"/>
              </a:lnSpc>
            </a:pPr>
            <a:r>
              <a:rPr lang="en-US" sz="1493" b="true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8/12/2026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8880986" y="6806384"/>
            <a:ext cx="458648" cy="3075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/>
            <a:r>
              <a:rPr sz="1000">
                <a:solidFill>
                  <a:srgbClr val="5E646E"/>
                </a:solidFill>
              </a:rPr>
              <a:t>5</a:t>
            </a:r>
          </a:p>
        </p:txBody>
      </p:sp>
      <p:sp>
        <p:nvSpPr>
          <p:cNvPr name="AutoShape 4" id="4"/>
          <p:cNvSpPr/>
          <p:nvPr/>
        </p:nvSpPr>
        <p:spPr>
          <a:xfrm rot="1843020">
            <a:off x="9142438" y="6890023"/>
            <a:ext cx="572300" cy="0"/>
          </a:xfrm>
          <a:prstGeom prst="line">
            <a:avLst/>
          </a:prstGeom>
          <a:ln cap="rnd" w="9525">
            <a:solidFill>
              <a:srgbClr val="ED7D31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grpSp>
        <p:nvGrpSpPr>
          <p:cNvPr name="Group 5" id="5"/>
          <p:cNvGrpSpPr/>
          <p:nvPr/>
        </p:nvGrpSpPr>
        <p:grpSpPr>
          <a:xfrm rot="0">
            <a:off x="486" y="144475"/>
            <a:ext cx="453571" cy="6507690"/>
            <a:chOff x="0" y="0"/>
            <a:chExt cx="604761" cy="867691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04774" cy="8676894"/>
            </a:xfrm>
            <a:custGeom>
              <a:avLst/>
              <a:gdLst/>
              <a:ahLst/>
              <a:cxnLst/>
              <a:rect r="r" b="b" t="t" l="l"/>
              <a:pathLst>
                <a:path h="8676894" w="604774">
                  <a:moveTo>
                    <a:pt x="0" y="0"/>
                  </a:moveTo>
                  <a:lnTo>
                    <a:pt x="604774" y="0"/>
                  </a:lnTo>
                  <a:lnTo>
                    <a:pt x="604774" y="8676894"/>
                  </a:lnTo>
                  <a:lnTo>
                    <a:pt x="0" y="86768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84508" t="0" r="-84504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458229" y="144475"/>
            <a:ext cx="163563" cy="5658917"/>
            <a:chOff x="0" y="0"/>
            <a:chExt cx="218084" cy="754522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8059" cy="7545197"/>
            </a:xfrm>
            <a:custGeom>
              <a:avLst/>
              <a:gdLst/>
              <a:ahLst/>
              <a:cxnLst/>
              <a:rect r="r" b="b" t="t" l="l"/>
              <a:pathLst>
                <a:path h="7545197" w="218059">
                  <a:moveTo>
                    <a:pt x="0" y="0"/>
                  </a:moveTo>
                  <a:lnTo>
                    <a:pt x="218059" y="0"/>
                  </a:lnTo>
                  <a:lnTo>
                    <a:pt x="218059" y="7545197"/>
                  </a:lnTo>
                  <a:lnTo>
                    <a:pt x="0" y="75451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93937" t="0" r="-93942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8876424" y="6446749"/>
            <a:ext cx="694944" cy="690648"/>
            <a:chOff x="0" y="0"/>
            <a:chExt cx="926592" cy="920864"/>
          </a:xfrm>
        </p:grpSpPr>
        <p:sp>
          <p:nvSpPr>
            <p:cNvPr name="Freeform 10" id="10" descr="A close up of a sign  Description automatically generated"/>
            <p:cNvSpPr/>
            <p:nvPr/>
          </p:nvSpPr>
          <p:spPr>
            <a:xfrm flipH="false" flipV="false" rot="0">
              <a:off x="0" y="0"/>
              <a:ext cx="926592" cy="920877"/>
            </a:xfrm>
            <a:custGeom>
              <a:avLst/>
              <a:gdLst/>
              <a:ahLst/>
              <a:cxnLst/>
              <a:rect r="r" b="b" t="t" l="l"/>
              <a:pathLst>
                <a:path h="920877" w="926592">
                  <a:moveTo>
                    <a:pt x="0" y="0"/>
                  </a:moveTo>
                  <a:lnTo>
                    <a:pt x="926592" y="0"/>
                  </a:lnTo>
                  <a:lnTo>
                    <a:pt x="926592" y="920877"/>
                  </a:lnTo>
                  <a:lnTo>
                    <a:pt x="0" y="9208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9" t="0" r="-9" b="1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5400000">
            <a:off x="5320132" y="3786969"/>
            <a:ext cx="411718" cy="6700866"/>
            <a:chOff x="0" y="0"/>
            <a:chExt cx="548958" cy="893448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48894" cy="8934450"/>
            </a:xfrm>
            <a:custGeom>
              <a:avLst/>
              <a:gdLst/>
              <a:ahLst/>
              <a:cxnLst/>
              <a:rect r="r" b="b" t="t" l="l"/>
              <a:pathLst>
                <a:path h="8934450" w="548894">
                  <a:moveTo>
                    <a:pt x="0" y="0"/>
                  </a:moveTo>
                  <a:lnTo>
                    <a:pt x="548894" y="0"/>
                  </a:lnTo>
                  <a:lnTo>
                    <a:pt x="548894" y="8934450"/>
                  </a:lnTo>
                  <a:lnTo>
                    <a:pt x="0" y="89344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02593" t="0" r="-102605" b="0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5400000">
            <a:off x="5433241" y="3502876"/>
            <a:ext cx="185499" cy="6700866"/>
            <a:chOff x="0" y="0"/>
            <a:chExt cx="247333" cy="893448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47269" cy="8934450"/>
            </a:xfrm>
            <a:custGeom>
              <a:avLst/>
              <a:gdLst/>
              <a:ahLst/>
              <a:cxnLst/>
              <a:rect r="r" b="b" t="t" l="l"/>
              <a:pathLst>
                <a:path h="8934450" w="247269">
                  <a:moveTo>
                    <a:pt x="0" y="0"/>
                  </a:moveTo>
                  <a:lnTo>
                    <a:pt x="247269" y="0"/>
                  </a:lnTo>
                  <a:lnTo>
                    <a:pt x="247269" y="8934450"/>
                  </a:lnTo>
                  <a:lnTo>
                    <a:pt x="0" y="89344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00297" t="0" r="-100323" b="0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14671" y="6729946"/>
            <a:ext cx="1948291" cy="542058"/>
            <a:chOff x="0" y="0"/>
            <a:chExt cx="2597722" cy="722744"/>
          </a:xfrm>
        </p:grpSpPr>
        <p:sp>
          <p:nvSpPr>
            <p:cNvPr name="Freeform 16" id="16" descr="C:\Users\admin\Downloads\university-png\Group 5@3x.png"/>
            <p:cNvSpPr/>
            <p:nvPr/>
          </p:nvSpPr>
          <p:spPr>
            <a:xfrm flipH="false" flipV="false" rot="0">
              <a:off x="0" y="0"/>
              <a:ext cx="2597658" cy="722757"/>
            </a:xfrm>
            <a:custGeom>
              <a:avLst/>
              <a:gdLst/>
              <a:ahLst/>
              <a:cxnLst/>
              <a:rect r="r" b="b" t="t" l="l"/>
              <a:pathLst>
                <a:path h="722757" w="2597658">
                  <a:moveTo>
                    <a:pt x="0" y="0"/>
                  </a:moveTo>
                  <a:lnTo>
                    <a:pt x="2597658" y="0"/>
                  </a:lnTo>
                  <a:lnTo>
                    <a:pt x="2597658" y="722757"/>
                  </a:lnTo>
                  <a:lnTo>
                    <a:pt x="0" y="72275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-2" b="-6327"/>
              </a:stretch>
            </a:blip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963254" y="293903"/>
            <a:ext cx="7713526" cy="5633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47"/>
              </a:lnSpc>
            </a:pPr>
            <a:r>
              <a:rPr lang="en-US" sz="3840">
                <a:solidFill>
                  <a:srgbClr val="930B0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Impacts &amp; Benefits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7983309" y="23147"/>
            <a:ext cx="1770291" cy="965613"/>
          </a:xfrm>
          <a:custGeom>
            <a:avLst/>
            <a:gdLst/>
            <a:ahLst/>
            <a:cxnLst/>
            <a:rect r="r" b="b" t="t" l="l"/>
            <a:pathLst>
              <a:path h="965613" w="1770291">
                <a:moveTo>
                  <a:pt x="0" y="0"/>
                </a:moveTo>
                <a:lnTo>
                  <a:pt x="1770291" y="0"/>
                </a:lnTo>
                <a:lnTo>
                  <a:pt x="1770291" y="965614"/>
                </a:lnTo>
                <a:lnTo>
                  <a:pt x="0" y="96561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id="19" name="Rounded Rectangle 18"/>
          <p:cNvSpPr/>
          <p:nvPr/>
        </p:nvSpPr>
        <p:spPr>
          <a:xfrm>
            <a:off x="1005840" y="1280160"/>
            <a:ext cx="2331720" cy="1828800"/>
          </a:xfrm>
          <a:prstGeom prst="roundRect">
            <a:avLst/>
          </a:prstGeom>
          <a:solidFill>
            <a:srgbClr val="FAF6F6"/>
          </a:solidFill>
          <a:ln w="12700">
            <a:solidFill>
              <a:srgbClr val="EBD2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28016" tIns="484632" bIns="91440"/>
          <a:lstStyle/>
          <a:p>
            <a:pPr algn="ctr">
              <a:spcAft>
                <a:spcPts val="500"/>
              </a:spcAft>
              <a:defRPr sz="1300">
                <a:solidFill>
                  <a:srgbClr val="2C3038"/>
                </a:solidFill>
                <a:latin typeface="Aptos"/>
              </a:defRPr>
            </a:pPr>
            <a:r>
              <a:t>Pinpoints exact failure stack traces, AST vulnerabilities, and CVEs across monorepos in under 3 seconds, eliminating manual log hunting.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05840" y="1280160"/>
            <a:ext cx="2331720" cy="393192"/>
          </a:xfrm>
          <a:prstGeom prst="roundRect">
            <a:avLst/>
          </a:prstGeom>
          <a:solidFill>
            <a:srgbClr val="B112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tIns="32004" bIns="0"/>
          <a:lstStyle/>
          <a:p>
            <a:pPr algn="ctr">
              <a:defRPr sz="1500" b="1">
                <a:solidFill>
                  <a:srgbClr val="FFFFFF"/>
                </a:solidFill>
                <a:latin typeface="Aptos Display"/>
              </a:defRPr>
            </a:pPr>
            <a:r>
              <a:t>FASTER TRIAGE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11880" y="1280160"/>
            <a:ext cx="2331720" cy="1828800"/>
          </a:xfrm>
          <a:prstGeom prst="roundRect">
            <a:avLst/>
          </a:prstGeom>
          <a:solidFill>
            <a:srgbClr val="FAF6F6"/>
          </a:solidFill>
          <a:ln w="12700">
            <a:solidFill>
              <a:srgbClr val="EBD2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28016" tIns="484632" bIns="91440"/>
          <a:lstStyle/>
          <a:p>
            <a:pPr algn="ctr">
              <a:spcAft>
                <a:spcPts val="500"/>
              </a:spcAft>
              <a:defRPr sz="1300">
                <a:solidFill>
                  <a:srgbClr val="2C3038"/>
                </a:solidFill>
                <a:latin typeface="Aptos"/>
              </a:defRPr>
            </a:pPr>
            <a:r>
              <a:t>Applies systematic, minimal patches and structured modern dependency migrations (pkg_resources → importlib.resources) following clean standards.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611880" y="1280160"/>
            <a:ext cx="2331720" cy="393192"/>
          </a:xfrm>
          <a:prstGeom prst="roundRect">
            <a:avLst/>
          </a:prstGeom>
          <a:solidFill>
            <a:srgbClr val="B112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tIns="32004" bIns="0"/>
          <a:lstStyle/>
          <a:p>
            <a:pPr algn="ctr">
              <a:defRPr sz="1500" b="1">
                <a:solidFill>
                  <a:srgbClr val="FFFFFF"/>
                </a:solidFill>
                <a:latin typeface="Aptos Display"/>
              </a:defRPr>
            </a:pPr>
            <a:r>
              <a:t>CONSISTENT REPAIRS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0" y="1280160"/>
            <a:ext cx="2331720" cy="1828800"/>
          </a:xfrm>
          <a:prstGeom prst="roundRect">
            <a:avLst/>
          </a:prstGeom>
          <a:solidFill>
            <a:srgbClr val="FAF6F6"/>
          </a:solidFill>
          <a:ln w="12700">
            <a:solidFill>
              <a:srgbClr val="EBD2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28016" tIns="484632" bIns="91440"/>
          <a:lstStyle/>
          <a:p>
            <a:pPr algn="ctr">
              <a:spcAft>
                <a:spcPts val="500"/>
              </a:spcAft>
              <a:defRPr sz="1300">
                <a:solidFill>
                  <a:srgbClr val="2C3038"/>
                </a:solidFill>
                <a:latin typeface="Aptos"/>
              </a:defRPr>
            </a:pPr>
            <a:r>
              <a:t>Produces interactive side-by-side diff viewers, 1-click .patch downloads, and GitHub PR descriptions complete with terminal logs.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0" y="1280160"/>
            <a:ext cx="2331720" cy="393192"/>
          </a:xfrm>
          <a:prstGeom prst="roundRect">
            <a:avLst/>
          </a:prstGeom>
          <a:solidFill>
            <a:srgbClr val="B112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tIns="32004" bIns="0"/>
          <a:lstStyle/>
          <a:p>
            <a:pPr algn="ctr">
              <a:defRPr sz="1500" b="1">
                <a:solidFill>
                  <a:srgbClr val="FFFFFF"/>
                </a:solidFill>
                <a:latin typeface="Aptos Display"/>
              </a:defRPr>
            </a:pPr>
            <a:r>
              <a:t>BETTER HANDOFF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05840" y="3520440"/>
            <a:ext cx="3703320" cy="1691640"/>
          </a:xfrm>
          <a:prstGeom prst="roundRect">
            <a:avLst/>
          </a:prstGeom>
          <a:solidFill>
            <a:srgbClr val="FAF6F6"/>
          </a:solidFill>
          <a:ln w="12700">
            <a:solidFill>
              <a:srgbClr val="EBD2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28016" tIns="484632" bIns="91440"/>
          <a:lstStyle/>
          <a:p>
            <a:pPr algn="ctr">
              <a:spcAft>
                <a:spcPts val="500"/>
              </a:spcAft>
              <a:defRPr sz="1300">
                <a:solidFill>
                  <a:srgbClr val="2C3038"/>
                </a:solidFill>
                <a:latin typeface="Aptos"/>
              </a:defRPr>
            </a:pPr>
            <a:r>
              <a:t>• Eliminates technical debt &amp; repetitive debugging by automating routine maintenance triage</a:t>
            </a:r>
          </a:p>
          <a:p>
            <a:pPr>
              <a:spcAft>
                <a:spcPts val="500"/>
              </a:spcAft>
              <a:defRPr sz="1300">
                <a:solidFill>
                  <a:srgbClr val="2C3038"/>
                </a:solidFill>
                <a:latin typeface="Aptos"/>
              </a:defRPr>
            </a:pPr>
            <a:r>
              <a:t>• Faster onboarding to unfamiliar repositories</a:t>
            </a:r>
          </a:p>
          <a:p>
            <a:pPr>
              <a:spcAft>
                <a:spcPts val="500"/>
              </a:spcAft>
              <a:defRPr sz="1300">
                <a:solidFill>
                  <a:srgbClr val="2C3038"/>
                </a:solidFill>
                <a:latin typeface="Aptos"/>
              </a:defRPr>
            </a:pPr>
            <a:r>
              <a:t>• Reviewable changes preserve developer control</a:t>
            </a:r>
          </a:p>
          <a:p>
            <a:r>
              <a:t>• Faster onboarding to unfamiliar codebases with clear root-cause explanations</a:t>
            </a:r>
          </a:p>
          <a:p>
            <a:r>
              <a:t>• Complete maintainer empowerment: human review required before any change is applied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05840" y="3520440"/>
            <a:ext cx="3703320" cy="393192"/>
          </a:xfrm>
          <a:prstGeom prst="roundRect">
            <a:avLst/>
          </a:prstGeom>
          <a:solidFill>
            <a:srgbClr val="B112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tIns="32004" bIns="0"/>
          <a:lstStyle/>
          <a:p>
            <a:pPr algn="ctr">
              <a:defRPr sz="1500" b="1">
                <a:solidFill>
                  <a:srgbClr val="FFFFFF"/>
                </a:solidFill>
                <a:latin typeface="Aptos Display"/>
              </a:defRPr>
            </a:pPr>
            <a:r>
              <a:t>FOR DEVELOPERS &amp; TEAMS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983480" y="3520440"/>
            <a:ext cx="3703320" cy="1691640"/>
          </a:xfrm>
          <a:prstGeom prst="roundRect">
            <a:avLst/>
          </a:prstGeom>
          <a:solidFill>
            <a:srgbClr val="FAF6F6"/>
          </a:solidFill>
          <a:ln w="12700">
            <a:solidFill>
              <a:srgbClr val="EBD2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28016" tIns="484632" bIns="91440"/>
          <a:lstStyle/>
          <a:p>
            <a:pPr algn="ctr">
              <a:spcAft>
                <a:spcPts val="500"/>
              </a:spcAft>
              <a:defRPr sz="1300">
                <a:solidFill>
                  <a:srgbClr val="2C3038"/>
                </a:solidFill>
                <a:latin typeface="Aptos"/>
              </a:defRPr>
            </a:pPr>
            <a:r>
              <a:t>• Augmented maintenance agent designed to assist, not replace, human engineering judgment</a:t>
            </a:r>
          </a:p>
          <a:p>
            <a:pPr>
              <a:spcAft>
                <a:spcPts val="500"/>
              </a:spcAft>
              <a:defRPr sz="1300">
                <a:solidFill>
                  <a:srgbClr val="2C3038"/>
                </a:solidFill>
                <a:latin typeface="Aptos"/>
              </a:defRPr>
            </a:pPr>
            <a:r>
              <a:t>• Results depend on code quality, test coverage and model accuracy</a:t>
            </a:r>
          </a:p>
          <a:p>
            <a:pPr>
              <a:spcAft>
                <a:spcPts val="500"/>
              </a:spcAft>
              <a:defRPr sz="1300">
                <a:solidFill>
                  <a:srgbClr val="2C3038"/>
                </a:solidFill>
                <a:latin typeface="Aptos"/>
              </a:defRPr>
            </a:pPr>
            <a:r>
              <a:t>• Measure outcomes on the organizer-provided repository</a:t>
            </a:r>
          </a:p>
          <a:p>
            <a:r>
              <a:t>• Full provenance: explicitly labels whether open-weight AI or deterministic rules created the fix</a:t>
            </a:r>
          </a:p>
          <a:p>
            <a:r>
              <a:t>• Evaluated against authentic benchmark repositories (py-vulnerable-calc, LinkWatch)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983480" y="3520440"/>
            <a:ext cx="3703320" cy="393192"/>
          </a:xfrm>
          <a:prstGeom prst="roundRect">
            <a:avLst/>
          </a:prstGeom>
          <a:solidFill>
            <a:srgbClr val="B112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tIns="32004" bIns="0"/>
          <a:lstStyle/>
          <a:p>
            <a:pPr algn="ctr">
              <a:defRPr sz="1500" b="1">
                <a:solidFill>
                  <a:srgbClr val="FFFFFF"/>
                </a:solidFill>
                <a:latin typeface="Aptos Display"/>
              </a:defRPr>
            </a:pPr>
            <a:r>
              <a:t>RESPONSIBLE EXPECTATIONS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1560" y="5440680"/>
            <a:ext cx="7772400" cy="365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defRPr sz="1400" b="1">
                <a:solidFill>
                  <a:srgbClr val="B1121D"/>
                </a:solidFill>
                <a:latin typeface="Aptos"/>
              </a:defRPr>
            </a:pPr>
            <a:r>
              <a:t>Intended impact: transform repository maintenance into an autonomous, verified, and safe continuous developer workflow.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37455" y="6834759"/>
            <a:ext cx="1370152" cy="3075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91"/>
              </a:lnSpc>
            </a:pPr>
            <a:r>
              <a:rPr lang="en-US" sz="1493" b="true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8/12/2026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8880986" y="6806384"/>
            <a:ext cx="458648" cy="3075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/>
            <a:r>
              <a:rPr sz="1000">
                <a:solidFill>
                  <a:srgbClr val="5E646E"/>
                </a:solidFill>
              </a:rPr>
              <a:t>6</a:t>
            </a:r>
          </a:p>
        </p:txBody>
      </p:sp>
      <p:sp>
        <p:nvSpPr>
          <p:cNvPr name="AutoShape 4" id="4"/>
          <p:cNvSpPr/>
          <p:nvPr/>
        </p:nvSpPr>
        <p:spPr>
          <a:xfrm rot="1843020">
            <a:off x="9142438" y="6890023"/>
            <a:ext cx="572300" cy="0"/>
          </a:xfrm>
          <a:prstGeom prst="line">
            <a:avLst/>
          </a:prstGeom>
          <a:ln cap="rnd" w="9525">
            <a:solidFill>
              <a:srgbClr val="ED7D31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grpSp>
        <p:nvGrpSpPr>
          <p:cNvPr name="Group 5" id="5"/>
          <p:cNvGrpSpPr/>
          <p:nvPr/>
        </p:nvGrpSpPr>
        <p:grpSpPr>
          <a:xfrm rot="0">
            <a:off x="486" y="144475"/>
            <a:ext cx="453571" cy="6507690"/>
            <a:chOff x="0" y="0"/>
            <a:chExt cx="604761" cy="867691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04774" cy="8676894"/>
            </a:xfrm>
            <a:custGeom>
              <a:avLst/>
              <a:gdLst/>
              <a:ahLst/>
              <a:cxnLst/>
              <a:rect r="r" b="b" t="t" l="l"/>
              <a:pathLst>
                <a:path h="8676894" w="604774">
                  <a:moveTo>
                    <a:pt x="0" y="0"/>
                  </a:moveTo>
                  <a:lnTo>
                    <a:pt x="604774" y="0"/>
                  </a:lnTo>
                  <a:lnTo>
                    <a:pt x="604774" y="8676894"/>
                  </a:lnTo>
                  <a:lnTo>
                    <a:pt x="0" y="86768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84508" t="0" r="-84504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458229" y="144475"/>
            <a:ext cx="163563" cy="5658917"/>
            <a:chOff x="0" y="0"/>
            <a:chExt cx="218084" cy="754522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8059" cy="7545197"/>
            </a:xfrm>
            <a:custGeom>
              <a:avLst/>
              <a:gdLst/>
              <a:ahLst/>
              <a:cxnLst/>
              <a:rect r="r" b="b" t="t" l="l"/>
              <a:pathLst>
                <a:path h="7545197" w="218059">
                  <a:moveTo>
                    <a:pt x="0" y="0"/>
                  </a:moveTo>
                  <a:lnTo>
                    <a:pt x="218059" y="0"/>
                  </a:lnTo>
                  <a:lnTo>
                    <a:pt x="218059" y="7545197"/>
                  </a:lnTo>
                  <a:lnTo>
                    <a:pt x="0" y="75451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93937" t="0" r="-93942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8876424" y="6446749"/>
            <a:ext cx="694944" cy="690648"/>
            <a:chOff x="0" y="0"/>
            <a:chExt cx="926592" cy="920864"/>
          </a:xfrm>
        </p:grpSpPr>
        <p:sp>
          <p:nvSpPr>
            <p:cNvPr name="Freeform 10" id="10" descr="A close up of a sign  Description automatically generated"/>
            <p:cNvSpPr/>
            <p:nvPr/>
          </p:nvSpPr>
          <p:spPr>
            <a:xfrm flipH="false" flipV="false" rot="0">
              <a:off x="0" y="0"/>
              <a:ext cx="926592" cy="920877"/>
            </a:xfrm>
            <a:custGeom>
              <a:avLst/>
              <a:gdLst/>
              <a:ahLst/>
              <a:cxnLst/>
              <a:rect r="r" b="b" t="t" l="l"/>
              <a:pathLst>
                <a:path h="920877" w="926592">
                  <a:moveTo>
                    <a:pt x="0" y="0"/>
                  </a:moveTo>
                  <a:lnTo>
                    <a:pt x="926592" y="0"/>
                  </a:lnTo>
                  <a:lnTo>
                    <a:pt x="926592" y="920877"/>
                  </a:lnTo>
                  <a:lnTo>
                    <a:pt x="0" y="9208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9" t="0" r="-9" b="1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5400000">
            <a:off x="5320132" y="3786969"/>
            <a:ext cx="411718" cy="6700866"/>
            <a:chOff x="0" y="0"/>
            <a:chExt cx="548958" cy="893448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48894" cy="8934450"/>
            </a:xfrm>
            <a:custGeom>
              <a:avLst/>
              <a:gdLst/>
              <a:ahLst/>
              <a:cxnLst/>
              <a:rect r="r" b="b" t="t" l="l"/>
              <a:pathLst>
                <a:path h="8934450" w="548894">
                  <a:moveTo>
                    <a:pt x="0" y="0"/>
                  </a:moveTo>
                  <a:lnTo>
                    <a:pt x="548894" y="0"/>
                  </a:lnTo>
                  <a:lnTo>
                    <a:pt x="548894" y="8934450"/>
                  </a:lnTo>
                  <a:lnTo>
                    <a:pt x="0" y="89344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02593" t="0" r="-102605" b="0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5400000">
            <a:off x="5433241" y="3502876"/>
            <a:ext cx="185499" cy="6700866"/>
            <a:chOff x="0" y="0"/>
            <a:chExt cx="247333" cy="893448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47269" cy="8934450"/>
            </a:xfrm>
            <a:custGeom>
              <a:avLst/>
              <a:gdLst/>
              <a:ahLst/>
              <a:cxnLst/>
              <a:rect r="r" b="b" t="t" l="l"/>
              <a:pathLst>
                <a:path h="8934450" w="247269">
                  <a:moveTo>
                    <a:pt x="0" y="0"/>
                  </a:moveTo>
                  <a:lnTo>
                    <a:pt x="247269" y="0"/>
                  </a:lnTo>
                  <a:lnTo>
                    <a:pt x="247269" y="8934450"/>
                  </a:lnTo>
                  <a:lnTo>
                    <a:pt x="0" y="89344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00297" t="0" r="-100323" b="0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14671" y="6729946"/>
            <a:ext cx="1948291" cy="542058"/>
            <a:chOff x="0" y="0"/>
            <a:chExt cx="2597722" cy="722744"/>
          </a:xfrm>
        </p:grpSpPr>
        <p:sp>
          <p:nvSpPr>
            <p:cNvPr name="Freeform 16" id="16" descr="C:\Users\admin\Downloads\university-png\Group 5@3x.png"/>
            <p:cNvSpPr/>
            <p:nvPr/>
          </p:nvSpPr>
          <p:spPr>
            <a:xfrm flipH="false" flipV="false" rot="0">
              <a:off x="0" y="0"/>
              <a:ext cx="2597658" cy="722757"/>
            </a:xfrm>
            <a:custGeom>
              <a:avLst/>
              <a:gdLst/>
              <a:ahLst/>
              <a:cxnLst/>
              <a:rect r="r" b="b" t="t" l="l"/>
              <a:pathLst>
                <a:path h="722757" w="2597658">
                  <a:moveTo>
                    <a:pt x="0" y="0"/>
                  </a:moveTo>
                  <a:lnTo>
                    <a:pt x="2597658" y="0"/>
                  </a:lnTo>
                  <a:lnTo>
                    <a:pt x="2597658" y="722757"/>
                  </a:lnTo>
                  <a:lnTo>
                    <a:pt x="0" y="72275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-2" b="-6327"/>
              </a:stretch>
            </a:blip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1308554" y="309369"/>
            <a:ext cx="7713526" cy="5633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47"/>
              </a:lnSpc>
            </a:pPr>
            <a:r>
              <a:rPr lang="en-US" sz="3840">
                <a:solidFill>
                  <a:srgbClr val="930B0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Research &amp; References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7983309" y="23147"/>
            <a:ext cx="1770291" cy="965613"/>
          </a:xfrm>
          <a:custGeom>
            <a:avLst/>
            <a:gdLst/>
            <a:ahLst/>
            <a:cxnLst/>
            <a:rect r="r" b="b" t="t" l="l"/>
            <a:pathLst>
              <a:path h="965613" w="1770291">
                <a:moveTo>
                  <a:pt x="0" y="0"/>
                </a:moveTo>
                <a:lnTo>
                  <a:pt x="1770291" y="0"/>
                </a:lnTo>
                <a:lnTo>
                  <a:pt x="1770291" y="965614"/>
                </a:lnTo>
                <a:lnTo>
                  <a:pt x="0" y="96561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id="19" name="Rounded Rectangle 18"/>
          <p:cNvSpPr/>
          <p:nvPr/>
        </p:nvSpPr>
        <p:spPr>
          <a:xfrm>
            <a:off x="1005840" y="1234440"/>
            <a:ext cx="7726679" cy="914400"/>
          </a:xfrm>
          <a:prstGeom prst="roundRect">
            <a:avLst/>
          </a:prstGeom>
          <a:solidFill>
            <a:srgbClr val="FAF6F6"/>
          </a:solidFill>
          <a:ln w="12700">
            <a:solidFill>
              <a:srgbClr val="EBD2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28016" tIns="484632" bIns="91440"/>
          <a:lstStyle/>
          <a:p>
            <a:pPr algn="ctr">
              <a:spcAft>
                <a:spcPts val="500"/>
              </a:spcAft>
              <a:defRPr sz="1200">
                <a:solidFill>
                  <a:srgbClr val="2C3038"/>
                </a:solidFill>
                <a:latin typeface="Aptos"/>
              </a:defRPr>
            </a:pPr>
            <a:r>
              <a:t>Git documentation &amp; Unified Diff Format — https://git-scm.com/docs</a:t>
            </a:r>
          </a:p>
          <a:p>
            <a:pPr>
              <a:spcAft>
                <a:spcPts val="500"/>
              </a:spcAft>
              <a:defRPr sz="1200">
                <a:solidFill>
                  <a:srgbClr val="2C3038"/>
                </a:solidFill>
                <a:latin typeface="Aptos"/>
              </a:defRPr>
            </a:pPr>
            <a:r>
              <a:t>GitHub REST API — https://docs.github.com/en/rest</a:t>
            </a:r>
          </a:p>
          <a:p>
            <a:r>
              <a:t>GitHub REST API &amp; Pull Request Mechanics — https://docs.github.com/en/rest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05840" y="1234440"/>
            <a:ext cx="7726679" cy="393192"/>
          </a:xfrm>
          <a:prstGeom prst="roundRect">
            <a:avLst/>
          </a:prstGeom>
          <a:solidFill>
            <a:srgbClr val="B112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tIns="32004" bIns="0"/>
          <a:lstStyle/>
          <a:p>
            <a:pPr algn="ctr">
              <a:defRPr sz="1500" b="1">
                <a:solidFill>
                  <a:srgbClr val="FFFFFF"/>
                </a:solidFill>
                <a:latin typeface="Aptos Display"/>
              </a:defRPr>
            </a:pPr>
            <a:r>
              <a:t>REPOSITORY &amp; CHANGE MANAGEMENT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05840" y="2331720"/>
            <a:ext cx="7726679" cy="914400"/>
          </a:xfrm>
          <a:prstGeom prst="roundRect">
            <a:avLst/>
          </a:prstGeom>
          <a:solidFill>
            <a:srgbClr val="FAF6F6"/>
          </a:solidFill>
          <a:ln w="12700">
            <a:solidFill>
              <a:srgbClr val="EBD2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28016" tIns="484632" bIns="91440"/>
          <a:lstStyle/>
          <a:p>
            <a:pPr algn="ctr">
              <a:spcAft>
                <a:spcPts val="500"/>
              </a:spcAft>
              <a:defRPr sz="1200">
                <a:solidFill>
                  <a:srgbClr val="2C3038"/>
                </a:solidFill>
                <a:latin typeface="Aptos"/>
              </a:defRPr>
            </a:pPr>
            <a:r>
              <a:t>Pytest Framework (Automated test discovery &amp; warning elevation) — https://docs.pytest.org/</a:t>
            </a:r>
          </a:p>
          <a:p>
            <a:pPr>
              <a:spcAft>
                <a:spcPts val="500"/>
              </a:spcAft>
              <a:defRPr sz="1200">
                <a:solidFill>
                  <a:srgbClr val="2C3038"/>
                </a:solidFill>
                <a:latin typeface="Aptos"/>
              </a:defRPr>
            </a:pPr>
            <a:r>
              <a:t>pytest documentation — https://docs.pytest.org/  (for Python projects)</a:t>
            </a:r>
          </a:p>
          <a:p>
            <a:r>
              <a:t>Flake8 PEP 8 Linter &amp; Bandit AST Security Scanner for Python</a:t>
            </a:r>
          </a:p>
          <a:p>
            <a:r>
              <a:t>Python PEP 594 &amp; PEP 632: Deprecation of legacy modules (pkg_resources) in favor of importlib.resources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05840" y="2331720"/>
            <a:ext cx="7726679" cy="393192"/>
          </a:xfrm>
          <a:prstGeom prst="roundRect">
            <a:avLst/>
          </a:prstGeom>
          <a:solidFill>
            <a:srgbClr val="B112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tIns="32004" bIns="0"/>
          <a:lstStyle/>
          <a:p>
            <a:pPr algn="ctr">
              <a:defRPr sz="1500" b="1">
                <a:solidFill>
                  <a:srgbClr val="FFFFFF"/>
                </a:solidFill>
                <a:latin typeface="Aptos Display"/>
              </a:defRPr>
            </a:pPr>
            <a:r>
              <a:t>CODE ANALYSIS &amp; TESTING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05840" y="3429000"/>
            <a:ext cx="7726679" cy="914400"/>
          </a:xfrm>
          <a:prstGeom prst="roundRect">
            <a:avLst/>
          </a:prstGeom>
          <a:solidFill>
            <a:srgbClr val="FAF6F6"/>
          </a:solidFill>
          <a:ln w="12700">
            <a:solidFill>
              <a:srgbClr val="EBD2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28016" tIns="484632" bIns="91440"/>
          <a:lstStyle/>
          <a:p>
            <a:pPr algn="ctr">
              <a:spcAft>
                <a:spcPts val="500"/>
              </a:spcAft>
              <a:defRPr sz="1100">
                <a:solidFill>
                  <a:srgbClr val="2C3038"/>
                </a:solidFill>
                <a:latin typeface="Aptos"/>
              </a:defRPr>
            </a:pPr>
            <a:r>
              <a:t>SWE-bench: Can Language Models Resolve Real-World GitHub Issues? — https://www.swebench.com/</a:t>
            </a:r>
          </a:p>
          <a:p>
            <a:pPr>
              <a:spcAft>
                <a:spcPts val="500"/>
              </a:spcAft>
              <a:defRPr sz="1100">
                <a:solidFill>
                  <a:srgbClr val="2C3038"/>
                </a:solidFill>
                <a:latin typeface="Aptos"/>
              </a:defRPr>
            </a:pPr>
            <a:r>
              <a:t>Use benchmark results as context, not as a guarantee of project performance.</a:t>
            </a:r>
          </a:p>
          <a:p>
            <a:r>
              <a:t>Automated Program Repair (APR) Research: Gazzola et al. (IEEE TSE) — Survey on test-suite validation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05840" y="3429000"/>
            <a:ext cx="7726679" cy="393192"/>
          </a:xfrm>
          <a:prstGeom prst="roundRect">
            <a:avLst/>
          </a:prstGeom>
          <a:solidFill>
            <a:srgbClr val="B112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tIns="32004" bIns="0"/>
          <a:lstStyle/>
          <a:p>
            <a:pPr algn="ctr">
              <a:defRPr sz="1500" b="1">
                <a:solidFill>
                  <a:srgbClr val="FFFFFF"/>
                </a:solidFill>
                <a:latin typeface="Aptos Display"/>
              </a:defRPr>
            </a:pPr>
            <a:r>
              <a:t>RESEARCH CONTEXT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05840" y="4526280"/>
            <a:ext cx="7726679" cy="868680"/>
          </a:xfrm>
          <a:prstGeom prst="roundRect">
            <a:avLst/>
          </a:prstGeom>
          <a:solidFill>
            <a:srgbClr val="FAF6F6"/>
          </a:solidFill>
          <a:ln w="12700">
            <a:solidFill>
              <a:srgbClr val="EBD2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28016" tIns="484632" bIns="91440"/>
          <a:lstStyle/>
          <a:p>
            <a:pPr algn="ctr">
              <a:spcAft>
                <a:spcPts val="500"/>
              </a:spcAft>
              <a:defRPr sz="1100">
                <a:solidFill>
                  <a:srgbClr val="2C3038"/>
                </a:solidFill>
                <a:latin typeface="Aptos"/>
              </a:defRPr>
            </a:pPr>
            <a:r>
              <a:t>NIST AI Risk Management Framework (RMF 1.0) — https://www.nist.gov/itl/ai-risk-management-framework</a:t>
            </a:r>
          </a:p>
          <a:p>
            <a:pPr>
              <a:spcAft>
                <a:spcPts val="500"/>
              </a:spcAft>
              <a:defRPr sz="1100">
                <a:solidFill>
                  <a:srgbClr val="2C3038"/>
                </a:solidFill>
                <a:latin typeface="Aptos"/>
              </a:defRPr>
            </a:pPr>
            <a:r>
              <a:t>Project-specific performance claims should be supported by measured evaluation.</a:t>
            </a:r>
          </a:p>
          <a:p>
            <a:r>
              <a:t>NIST National Vulnerability Database (NVD): CVE-2024-34064 (Jinja2 SSTI), CVE-2024-6345 (setuptools)</a:t>
            </a:r>
          </a:p>
          <a:p>
            <a:r>
              <a:t>Licensed under the Apache License 2.0 (Open Source Tooling)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05840" y="4526280"/>
            <a:ext cx="7726679" cy="393192"/>
          </a:xfrm>
          <a:prstGeom prst="roundRect">
            <a:avLst/>
          </a:prstGeom>
          <a:solidFill>
            <a:srgbClr val="B112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tIns="32004" bIns="0"/>
          <a:lstStyle/>
          <a:p>
            <a:pPr algn="ctr">
              <a:defRPr sz="1500" b="1">
                <a:solidFill>
                  <a:srgbClr val="FFFFFF"/>
                </a:solidFill>
                <a:latin typeface="Aptos Display"/>
              </a:defRPr>
            </a:pPr>
            <a:r>
              <a:t>RESPONSIBLE AI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" y="5577840"/>
            <a:ext cx="777240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defRPr sz="1100" b="0">
                <a:solidFill>
                  <a:srgbClr val="5E646E"/>
                </a:solidFill>
                <a:latin typeface="Aptos"/>
              </a:defRPr>
            </a:pPr>
            <a:r>
              <a:t>Note: Evaluated on live target repository (LinkWatch); verified with authentic sandbox executions and reproducible test records.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DAHYDlySxUU</dc:identifier>
  <dcterms:modified xsi:type="dcterms:W3CDTF">2011-08-01T06:04:30Z</dcterms:modified>
  <cp:revision>1</cp:revision>
  <dc:title>Copy of Abhiyantriki- Hacktoberfest  Submission </dc:title>
</cp:coreProperties>
</file>